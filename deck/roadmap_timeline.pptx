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admap" id="{e772d52b-9d4f-2d9f-8151-0e0002ad60ae}">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timeline left to right. Each phase ends at an exit gate the business signs off before the next one starts, so the commitment grows only as value is proven. Phase 1 is six weeks on one market; phase 2 scales to all markets and puts forecasting into the weekly buy and replenishment cycle; phase 3 moves from savings to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Multivar × Databricks  ·  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1672" cy="365760"/>
          </a:xfrm>
          <a:prstGeom prst="rect">
            <a:avLst/>
          </a:prstGeom>
          <a:noFill/>
          <a:ln/>
        </p:spPr>
        <p:txBody>
          <a:bodyPr wrap="square" lIns="0" tIns="0" rIns="0" bIns="0" rtlCol="0"/>
          <a:lstStyle/>
          <a:p>
            <a:pPr indent="0" marL="0">
              <a:buNone/>
            </a:pPr>
            <a:r>
              <a:rPr lang="en-US" sz="1200" b="1" spc="200" kern="0" dirty="0">
                <a:solidFill>
                  <a:schemeClr val="accent1"/>
                </a:solidFill>
              </a:rPr>
              <a:t>· THE ROADMAP</a:t>
            </a:r>
            <a:endParaRPr lang="en-US" sz="1200" dirty="0"/>
          </a:p>
        </p:txBody>
      </p:sp>
      <p:sp>
        <p:nvSpPr>
          <p:cNvPr id="3" name="Text 0"/>
          <p:cNvSpPr/>
          <p:nvPr>
            <p:ph idx="101" type="title" hasCustomPrompt="1"/>
          </p:nvPr>
        </p:nvSpPr>
        <p:spPr>
          <a:xfrm>
            <a:off x="548640" y="731520"/>
            <a:ext cx="11091672" cy="914400"/>
          </a:xfrm>
          <a:prstGeom prst="rect">
            <a:avLst/>
          </a:prstGeom>
          <a:noFill/>
          <a:ln/>
        </p:spPr>
        <p:txBody>
          <a:bodyPr wrap="square" lIns="0" tIns="0" rIns="0" bIns="0" rtlCol="0" anchor="t"/>
          <a:lstStyle/>
          <a:p>
            <a:pPr algn="l" indent="0" marL="0">
              <a:buNone/>
            </a:pPr>
            <a:r>
              <a:rPr lang="en-US" sz="3400" b="1" dirty="0">
                <a:solidFill>
                  <a:schemeClr val="tx1"/>
                </a:solidFill>
              </a:rPr>
              <a:t>Value in weeks. Each phase pays for the next</a:t>
            </a:r>
            <a:endParaRPr lang="en-US" sz="3400" dirty="0"/>
          </a:p>
        </p:txBody>
      </p:sp>
      <p:sp>
        <p:nvSpPr>
          <p:cNvPr id="4" name="Text 2"/>
          <p:cNvSpPr txBox="1"/>
          <p:nvPr/>
        </p:nvSpPr>
        <p:spPr>
          <a:xfrm>
            <a:off x="685800" y="1691640"/>
            <a:ext cx="278892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WEEKS 0–6</a:t>
            </a:r>
            <a:endParaRPr lang="en-US" sz="1200" dirty="0"/>
          </a:p>
        </p:txBody>
      </p:sp>
      <p:sp>
        <p:nvSpPr>
          <p:cNvPr id="5" name="Text 3"/>
          <p:cNvSpPr txBox="1"/>
          <p:nvPr/>
        </p:nvSpPr>
        <p:spPr>
          <a:xfrm>
            <a:off x="685800" y="1965960"/>
            <a:ext cx="2788920" cy="640080"/>
          </a:xfrm>
          <a:prstGeom prst="rect">
            <a:avLst/>
          </a:prstGeom>
          <a:noFill/>
          <a:ln/>
        </p:spPr>
        <p:txBody>
          <a:bodyPr wrap="square" lIns="0" tIns="0" rIns="0" bIns="0" rtlCol="0" anchor="t"/>
          <a:lstStyle/>
          <a:p>
            <a:pPr indent="0" marL="0">
              <a:buNone/>
            </a:pPr>
            <a:r>
              <a:rPr lang="en-US" sz="1800" b="1" dirty="0">
                <a:solidFill>
                  <a:schemeClr val="tx1"/>
                </a:solidFill>
              </a:rPr>
              <a:t>Stock-outs + markdown baseline</a:t>
            </a:r>
            <a:endParaRPr lang="en-US" sz="1800" dirty="0"/>
          </a:p>
        </p:txBody>
      </p:sp>
      <p:sp>
        <p:nvSpPr>
          <p:cNvPr id="6" name="phase-1-bar"/>
          <p:cNvSpPr/>
          <p:nvPr/>
        </p:nvSpPr>
        <p:spPr>
          <a:xfrm>
            <a:off x="548640" y="2743200"/>
            <a:ext cx="3474720" cy="566928"/>
          </a:xfrm>
          <a:prstGeom prst="homePlate">
            <a:avLst/>
          </a:prstGeom>
          <a:solidFill>
            <a:schemeClr val="accent1"/>
          </a:solidFill>
          <a:ln w="25400">
            <a:solidFill>
              <a:schemeClr val="bg1"/>
            </a:solidFill>
            <a:prstDash val="solid"/>
          </a:ln>
        </p:spPr>
      </p:sp>
      <p:sp>
        <p:nvSpPr>
          <p:cNvPr id="7" name="Text 5"/>
          <p:cNvSpPr txBox="1"/>
          <p:nvPr/>
        </p:nvSpPr>
        <p:spPr>
          <a:xfrm>
            <a:off x="731520" y="2743200"/>
            <a:ext cx="2514600" cy="566928"/>
          </a:xfrm>
          <a:prstGeom prst="rect">
            <a:avLst/>
          </a:prstGeom>
          <a:noFill/>
          <a:ln/>
        </p:spPr>
        <p:txBody>
          <a:bodyPr wrap="square" lIns="0" tIns="0" rIns="0" bIns="0" rtlCol="0" anchor="ctr"/>
          <a:lstStyle/>
          <a:p>
            <a:pPr indent="0" marL="0">
              <a:buNone/>
            </a:pPr>
            <a:r>
              <a:rPr lang="en-US" sz="1500" b="1" spc="200" kern="0" dirty="0">
                <a:solidFill>
                  <a:schemeClr val="bg1"/>
                </a:solidFill>
              </a:rPr>
              <a:t>PROVE</a:t>
            </a:r>
            <a:endParaRPr lang="en-US" sz="1500" dirty="0"/>
          </a:p>
        </p:txBody>
      </p:sp>
      <p:sp>
        <p:nvSpPr>
          <p:cNvPr id="8" name="Text 6"/>
          <p:cNvSpPr txBox="1"/>
          <p:nvPr/>
        </p:nvSpPr>
        <p:spPr>
          <a:xfrm>
            <a:off x="685800" y="3566160"/>
            <a:ext cx="278892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Connect POS, web, inventory and loyalty for one market</a:t>
            </a:r>
            <a:endParaRPr lang="en-US" sz="1400" dirty="0"/>
          </a:p>
          <a:p>
            <a:pPr marL="342900" indent="-342900">
              <a:spcAft>
                <a:spcPts val="600"/>
              </a:spcAft>
              <a:buSzPct val="100000"/>
              <a:buChar char="•"/>
            </a:pPr>
            <a:r>
              <a:rPr lang="en-US" sz="1400" dirty="0">
                <a:solidFill>
                  <a:schemeClr val="accent4"/>
                </a:solidFill>
              </a:rPr>
              <a:t>Dashboard + Genie for merch &amp; finance</a:t>
            </a:r>
            <a:endParaRPr lang="en-US" sz="1400" dirty="0"/>
          </a:p>
          <a:p>
            <a:pPr marL="342900" indent="-342900">
              <a:spcAft>
                <a:spcPts val="600"/>
              </a:spcAft>
              <a:buSzPct val="100000"/>
              <a:buChar char="•"/>
            </a:pPr>
            <a:r>
              <a:rPr lang="en-US" sz="1400" dirty="0">
                <a:solidFill>
                  <a:schemeClr val="accent4"/>
                </a:solidFill>
              </a:rPr>
              <a:t>Validate the $ case on real data</a:t>
            </a:r>
            <a:endParaRPr lang="en-US" sz="1400" dirty="0"/>
          </a:p>
        </p:txBody>
      </p:sp>
      <p:sp>
        <p:nvSpPr>
          <p:cNvPr id="9" name="phase-1-gate"/>
          <p:cNvSpPr/>
          <p:nvPr/>
        </p:nvSpPr>
        <p:spPr>
          <a:xfrm>
            <a:off x="685800" y="5340096"/>
            <a:ext cx="292608" cy="292608"/>
          </a:xfrm>
          <a:prstGeom prst="diamond">
            <a:avLst/>
          </a:prstGeom>
          <a:solidFill>
            <a:schemeClr val="accent1"/>
          </a:solidFill>
          <a:ln/>
        </p:spPr>
      </p:sp>
      <p:sp>
        <p:nvSpPr>
          <p:cNvPr id="10" name="Text 8"/>
          <p:cNvSpPr txBox="1"/>
          <p:nvPr/>
        </p:nvSpPr>
        <p:spPr>
          <a:xfrm>
            <a:off x="1097280" y="5303520"/>
            <a:ext cx="2377440" cy="219456"/>
          </a:xfrm>
          <a:prstGeom prst="rect">
            <a:avLst/>
          </a:prstGeom>
          <a:noFill/>
          <a:ln/>
        </p:spPr>
        <p:txBody>
          <a:bodyPr wrap="square" lIns="0" tIns="0" rIns="0" bIns="0" rtlCol="0" anchor="ctr"/>
          <a:lstStyle/>
          <a:p>
            <a:pPr indent="0" marL="0">
              <a:buNone/>
            </a:pPr>
            <a:r>
              <a:rPr lang="en-US" sz="1000" b="1" spc="100" kern="0" dirty="0">
                <a:solidFill>
                  <a:schemeClr val="accent1"/>
                </a:solidFill>
              </a:rPr>
              <a:t>EXIT GATE</a:t>
            </a:r>
            <a:endParaRPr lang="en-US" sz="1000" dirty="0"/>
          </a:p>
        </p:txBody>
      </p:sp>
      <p:sp>
        <p:nvSpPr>
          <p:cNvPr id="11" name="Text 9"/>
          <p:cNvSpPr txBox="1"/>
          <p:nvPr/>
        </p:nvSpPr>
        <p:spPr>
          <a:xfrm>
            <a:off x="1097280" y="5522976"/>
            <a:ext cx="2377440" cy="502920"/>
          </a:xfrm>
          <a:prstGeom prst="rect">
            <a:avLst/>
          </a:prstGeom>
          <a:noFill/>
          <a:ln/>
        </p:spPr>
        <p:txBody>
          <a:bodyPr wrap="square" lIns="0" tIns="0" rIns="0" bIns="0" rtlCol="0" anchor="t"/>
          <a:lstStyle/>
          <a:p>
            <a:pPr indent="0" marL="0">
              <a:buNone/>
            </a:pPr>
            <a:r>
              <a:rPr lang="en-US" sz="1400" b="1" dirty="0">
                <a:solidFill>
                  <a:schemeClr val="tx1"/>
                </a:solidFill>
              </a:rPr>
              <a:t>CFO signs off baseline and target</a:t>
            </a:r>
            <a:endParaRPr lang="en-US" sz="1400" dirty="0"/>
          </a:p>
        </p:txBody>
      </p:sp>
      <p:sp>
        <p:nvSpPr>
          <p:cNvPr id="12" name="Text 10"/>
          <p:cNvSpPr txBox="1"/>
          <p:nvPr/>
        </p:nvSpPr>
        <p:spPr>
          <a:xfrm>
            <a:off x="3931920" y="1691640"/>
            <a:ext cx="324612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MONTHS 2–6</a:t>
            </a:r>
            <a:endParaRPr lang="en-US" sz="1200" dirty="0"/>
          </a:p>
        </p:txBody>
      </p:sp>
      <p:sp>
        <p:nvSpPr>
          <p:cNvPr id="13" name="Text 11"/>
          <p:cNvSpPr txBox="1"/>
          <p:nvPr/>
        </p:nvSpPr>
        <p:spPr>
          <a:xfrm>
            <a:off x="3931920" y="1965960"/>
            <a:ext cx="3246120" cy="640080"/>
          </a:xfrm>
          <a:prstGeom prst="rect">
            <a:avLst/>
          </a:prstGeom>
          <a:noFill/>
          <a:ln/>
        </p:spPr>
        <p:txBody>
          <a:bodyPr wrap="square" lIns="0" tIns="0" rIns="0" bIns="0" rtlCol="0" anchor="t"/>
          <a:lstStyle/>
          <a:p>
            <a:pPr indent="0" marL="0">
              <a:buNone/>
            </a:pPr>
            <a:r>
              <a:rPr lang="en-US" sz="1800" b="1" dirty="0">
                <a:solidFill>
                  <a:schemeClr val="tx1"/>
                </a:solidFill>
              </a:rPr>
              <a:t>All markets, forecasting live</a:t>
            </a:r>
            <a:endParaRPr lang="en-US" sz="1800" dirty="0"/>
          </a:p>
        </p:txBody>
      </p:sp>
      <p:sp>
        <p:nvSpPr>
          <p:cNvPr id="14" name="phase-2-bar"/>
          <p:cNvSpPr/>
          <p:nvPr/>
        </p:nvSpPr>
        <p:spPr>
          <a:xfrm>
            <a:off x="3794760" y="2743200"/>
            <a:ext cx="3931920" cy="566928"/>
          </a:xfrm>
          <a:prstGeom prst="chevron">
            <a:avLst/>
          </a:prstGeom>
          <a:solidFill>
            <a:schemeClr val="accent2"/>
          </a:solidFill>
          <a:ln w="25400">
            <a:solidFill>
              <a:schemeClr val="bg1"/>
            </a:solidFill>
            <a:prstDash val="solid"/>
          </a:ln>
        </p:spPr>
      </p:sp>
      <p:sp>
        <p:nvSpPr>
          <p:cNvPr id="15" name="Text 13"/>
          <p:cNvSpPr txBox="1"/>
          <p:nvPr/>
        </p:nvSpPr>
        <p:spPr>
          <a:xfrm>
            <a:off x="4206240" y="2743200"/>
            <a:ext cx="2971800" cy="566928"/>
          </a:xfrm>
          <a:prstGeom prst="rect">
            <a:avLst/>
          </a:prstGeom>
          <a:noFill/>
          <a:ln/>
        </p:spPr>
        <p:txBody>
          <a:bodyPr wrap="square" lIns="0" tIns="0" rIns="0" bIns="0" rtlCol="0" anchor="ctr"/>
          <a:lstStyle/>
          <a:p>
            <a:pPr indent="0" marL="0">
              <a:buNone/>
            </a:pPr>
            <a:r>
              <a:rPr lang="en-US" sz="1500" b="1" spc="200" kern="0" dirty="0">
                <a:solidFill>
                  <a:schemeClr val="bg1"/>
                </a:solidFill>
              </a:rPr>
              <a:t>SCALE</a:t>
            </a:r>
            <a:endParaRPr lang="en-US" sz="1500" dirty="0"/>
          </a:p>
        </p:txBody>
      </p:sp>
      <p:sp>
        <p:nvSpPr>
          <p:cNvPr id="16" name="Text 14"/>
          <p:cNvSpPr txBox="1"/>
          <p:nvPr/>
        </p:nvSpPr>
        <p:spPr>
          <a:xfrm>
            <a:off x="3931920" y="3566160"/>
            <a:ext cx="324612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SKU × store forecast in the weekly buy/replenishment cycle</a:t>
            </a:r>
            <a:endParaRPr lang="en-US" sz="1400" dirty="0"/>
          </a:p>
          <a:p>
            <a:pPr marL="342900" indent="-342900">
              <a:spcAft>
                <a:spcPts val="600"/>
              </a:spcAft>
              <a:buSzPct val="100000"/>
              <a:buChar char="•"/>
            </a:pPr>
            <a:r>
              <a:rPr lang="en-US" sz="1400" dirty="0">
                <a:solidFill>
                  <a:schemeClr val="accent4"/>
                </a:solidFill>
              </a:rPr>
              <a:t>Markdown recommendations for Winter26 end of season</a:t>
            </a:r>
            <a:endParaRPr lang="en-US" sz="1400" dirty="0"/>
          </a:p>
          <a:p>
            <a:pPr marL="342900" indent="-342900">
              <a:spcAft>
                <a:spcPts val="600"/>
              </a:spcAft>
              <a:buSzPct val="100000"/>
              <a:buChar char="•"/>
            </a:pPr>
            <a:r>
              <a:rPr lang="en-US" sz="1400" dirty="0">
                <a:solidFill>
                  <a:schemeClr val="accent4"/>
                </a:solidFill>
              </a:rPr>
              <a:t>CDP powered C360</a:t>
            </a:r>
            <a:endParaRPr lang="en-US" sz="1400" dirty="0"/>
          </a:p>
        </p:txBody>
      </p:sp>
      <p:sp>
        <p:nvSpPr>
          <p:cNvPr id="17" name="phase-2-gate"/>
          <p:cNvSpPr/>
          <p:nvPr/>
        </p:nvSpPr>
        <p:spPr>
          <a:xfrm>
            <a:off x="3931920" y="5340096"/>
            <a:ext cx="292608" cy="292608"/>
          </a:xfrm>
          <a:prstGeom prst="diamond">
            <a:avLst/>
          </a:prstGeom>
          <a:solidFill>
            <a:schemeClr val="accent2"/>
          </a:solidFill>
          <a:ln/>
        </p:spPr>
      </p:sp>
      <p:sp>
        <p:nvSpPr>
          <p:cNvPr id="18" name="Text 16"/>
          <p:cNvSpPr txBox="1"/>
          <p:nvPr/>
        </p:nvSpPr>
        <p:spPr>
          <a:xfrm>
            <a:off x="4343400" y="5303520"/>
            <a:ext cx="2834640" cy="219456"/>
          </a:xfrm>
          <a:prstGeom prst="rect">
            <a:avLst/>
          </a:prstGeom>
          <a:noFill/>
          <a:ln/>
        </p:spPr>
        <p:txBody>
          <a:bodyPr wrap="square" lIns="0" tIns="0" rIns="0" bIns="0" rtlCol="0" anchor="ctr"/>
          <a:lstStyle/>
          <a:p>
            <a:pPr indent="0" marL="0">
              <a:buNone/>
            </a:pPr>
            <a:r>
              <a:rPr lang="en-US" sz="1000" b="1" spc="100" kern="0" dirty="0">
                <a:solidFill>
                  <a:schemeClr val="accent2"/>
                </a:solidFill>
              </a:rPr>
              <a:t>EXIT GATE</a:t>
            </a:r>
            <a:endParaRPr lang="en-US" sz="1000" dirty="0"/>
          </a:p>
        </p:txBody>
      </p:sp>
      <p:sp>
        <p:nvSpPr>
          <p:cNvPr id="19" name="Text 17"/>
          <p:cNvSpPr txBox="1"/>
          <p:nvPr/>
        </p:nvSpPr>
        <p:spPr>
          <a:xfrm>
            <a:off x="4343400" y="5522976"/>
            <a:ext cx="2834640" cy="502920"/>
          </a:xfrm>
          <a:prstGeom prst="rect">
            <a:avLst/>
          </a:prstGeom>
          <a:noFill/>
          <a:ln/>
        </p:spPr>
        <p:txBody>
          <a:bodyPr wrap="square" lIns="0" tIns="0" rIns="0" bIns="0" rtlCol="0" anchor="t"/>
          <a:lstStyle/>
          <a:p>
            <a:pPr indent="0" marL="0">
              <a:buNone/>
            </a:pPr>
            <a:r>
              <a:rPr lang="en-US" sz="1400" b="1" dirty="0">
                <a:solidFill>
                  <a:schemeClr val="tx1"/>
                </a:solidFill>
              </a:rPr>
              <a:t>Measured drop in stock-outs and markdowns</a:t>
            </a:r>
            <a:endParaRPr lang="en-US" sz="1400" dirty="0"/>
          </a:p>
        </p:txBody>
      </p:sp>
      <p:sp>
        <p:nvSpPr>
          <p:cNvPr id="20" name="Text 18"/>
          <p:cNvSpPr txBox="1"/>
          <p:nvPr/>
        </p:nvSpPr>
        <p:spPr>
          <a:xfrm>
            <a:off x="7635240" y="1691640"/>
            <a:ext cx="3685032"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MONTHS 6–18</a:t>
            </a:r>
            <a:endParaRPr lang="en-US" sz="1200" dirty="0"/>
          </a:p>
        </p:txBody>
      </p:sp>
      <p:sp>
        <p:nvSpPr>
          <p:cNvPr id="21" name="Text 19"/>
          <p:cNvSpPr txBox="1"/>
          <p:nvPr/>
        </p:nvSpPr>
        <p:spPr>
          <a:xfrm>
            <a:off x="7635240" y="1965960"/>
            <a:ext cx="3685032" cy="640080"/>
          </a:xfrm>
          <a:prstGeom prst="rect">
            <a:avLst/>
          </a:prstGeom>
          <a:noFill/>
          <a:ln/>
        </p:spPr>
        <p:txBody>
          <a:bodyPr wrap="square" lIns="0" tIns="0" rIns="0" bIns="0" rtlCol="0" anchor="t"/>
          <a:lstStyle/>
          <a:p>
            <a:pPr indent="0" marL="0">
              <a:buNone/>
            </a:pPr>
            <a:r>
              <a:rPr lang="en-US" sz="1800" b="1" dirty="0">
                <a:solidFill>
                  <a:schemeClr val="tx1"/>
                </a:solidFill>
              </a:rPr>
              <a:t>Personalisation &amp; AI assistants</a:t>
            </a:r>
            <a:endParaRPr lang="en-US" sz="1800" dirty="0"/>
          </a:p>
        </p:txBody>
      </p:sp>
      <p:sp>
        <p:nvSpPr>
          <p:cNvPr id="22" name="phase-3-bar"/>
          <p:cNvSpPr/>
          <p:nvPr/>
        </p:nvSpPr>
        <p:spPr>
          <a:xfrm>
            <a:off x="7498080" y="2743200"/>
            <a:ext cx="4142232" cy="566928"/>
          </a:xfrm>
          <a:prstGeom prst="chevron">
            <a:avLst/>
          </a:prstGeom>
          <a:solidFill>
            <a:schemeClr val="accent3"/>
          </a:solidFill>
          <a:ln w="25400">
            <a:solidFill>
              <a:schemeClr val="bg1"/>
            </a:solidFill>
            <a:prstDash val="solid"/>
          </a:ln>
        </p:spPr>
      </p:sp>
      <p:sp>
        <p:nvSpPr>
          <p:cNvPr id="23" name="Text 21"/>
          <p:cNvSpPr txBox="1"/>
          <p:nvPr/>
        </p:nvSpPr>
        <p:spPr>
          <a:xfrm>
            <a:off x="7909560" y="2743200"/>
            <a:ext cx="3410712" cy="566928"/>
          </a:xfrm>
          <a:prstGeom prst="rect">
            <a:avLst/>
          </a:prstGeom>
          <a:noFill/>
          <a:ln/>
        </p:spPr>
        <p:txBody>
          <a:bodyPr wrap="square" lIns="0" tIns="0" rIns="0" bIns="0" rtlCol="0" anchor="ctr"/>
          <a:lstStyle/>
          <a:p>
            <a:pPr indent="0" marL="0">
              <a:buNone/>
            </a:pPr>
            <a:r>
              <a:rPr lang="en-US" sz="1500" b="1" spc="200" kern="0" dirty="0">
                <a:solidFill>
                  <a:schemeClr val="bg1"/>
                </a:solidFill>
              </a:rPr>
              <a:t>DIFFERENTIATE</a:t>
            </a:r>
            <a:endParaRPr lang="en-US" sz="1500" dirty="0"/>
          </a:p>
        </p:txBody>
      </p:sp>
      <p:sp>
        <p:nvSpPr>
          <p:cNvPr id="24" name="Text 22"/>
          <p:cNvSpPr txBox="1"/>
          <p:nvPr/>
        </p:nvSpPr>
        <p:spPr>
          <a:xfrm>
            <a:off x="7635240" y="3566160"/>
            <a:ext cx="368503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Loyalty personalisation and retention</a:t>
            </a:r>
            <a:endParaRPr lang="en-US" sz="1400" dirty="0"/>
          </a:p>
          <a:p>
            <a:pPr marL="342900" indent="-342900">
              <a:spcAft>
                <a:spcPts val="600"/>
              </a:spcAft>
              <a:buSzPct val="100000"/>
              <a:buChar char="•"/>
            </a:pPr>
            <a:r>
              <a:rPr lang="en-US" sz="1400" dirty="0">
                <a:solidFill>
                  <a:schemeClr val="accent4"/>
                </a:solidFill>
              </a:rPr>
              <a:t>Planner &amp; store-manager AI assistants</a:t>
            </a:r>
            <a:endParaRPr lang="en-US" sz="1400" dirty="0"/>
          </a:p>
          <a:p>
            <a:pPr marL="342900" indent="-342900">
              <a:spcAft>
                <a:spcPts val="600"/>
              </a:spcAft>
              <a:buSzPct val="100000"/>
              <a:buChar char="•"/>
            </a:pPr>
            <a:r>
              <a:rPr lang="en-US" sz="1400" dirty="0">
                <a:solidFill>
                  <a:schemeClr val="accent4"/>
                </a:solidFill>
              </a:rPr>
              <a:t>Supplier collaboration, pricing</a:t>
            </a:r>
            <a:endParaRPr lang="en-US" sz="1400" dirty="0"/>
          </a:p>
        </p:txBody>
      </p:sp>
      <p:sp>
        <p:nvSpPr>
          <p:cNvPr id="25" name="phase-3-gate"/>
          <p:cNvSpPr/>
          <p:nvPr/>
        </p:nvSpPr>
        <p:spPr>
          <a:xfrm>
            <a:off x="7635240" y="5340096"/>
            <a:ext cx="292608" cy="292608"/>
          </a:xfrm>
          <a:prstGeom prst="diamond">
            <a:avLst/>
          </a:prstGeom>
          <a:solidFill>
            <a:schemeClr val="accent3"/>
          </a:solidFill>
          <a:ln/>
        </p:spPr>
      </p:sp>
      <p:sp>
        <p:nvSpPr>
          <p:cNvPr id="26" name="Text 24"/>
          <p:cNvSpPr txBox="1"/>
          <p:nvPr/>
        </p:nvSpPr>
        <p:spPr>
          <a:xfrm>
            <a:off x="8046720" y="5303520"/>
            <a:ext cx="3273552" cy="219456"/>
          </a:xfrm>
          <a:prstGeom prst="rect">
            <a:avLst/>
          </a:prstGeom>
          <a:noFill/>
          <a:ln/>
        </p:spPr>
        <p:txBody>
          <a:bodyPr wrap="square" lIns="0" tIns="0" rIns="0" bIns="0" rtlCol="0" anchor="ctr"/>
          <a:lstStyle/>
          <a:p>
            <a:pPr indent="0" marL="0">
              <a:buNone/>
            </a:pPr>
            <a:r>
              <a:rPr lang="en-US" sz="1000" b="1" spc="100" kern="0" dirty="0">
                <a:solidFill>
                  <a:schemeClr val="accent3"/>
                </a:solidFill>
              </a:rPr>
              <a:t>EXIT GATE</a:t>
            </a:r>
            <a:endParaRPr lang="en-US" sz="1000" dirty="0"/>
          </a:p>
        </p:txBody>
      </p:sp>
      <p:sp>
        <p:nvSpPr>
          <p:cNvPr id="27" name="Text 25"/>
          <p:cNvSpPr txBox="1"/>
          <p:nvPr/>
        </p:nvSpPr>
        <p:spPr>
          <a:xfrm>
            <a:off x="8046720" y="5522976"/>
            <a:ext cx="3273552" cy="502920"/>
          </a:xfrm>
          <a:prstGeom prst="rect">
            <a:avLst/>
          </a:prstGeom>
          <a:noFill/>
          <a:ln/>
        </p:spPr>
        <p:txBody>
          <a:bodyPr wrap="square" lIns="0" tIns="0" rIns="0" bIns="0" rtlCol="0" anchor="t"/>
          <a:lstStyle/>
          <a:p>
            <a:pPr indent="0" marL="0">
              <a:buNone/>
            </a:pPr>
            <a:r>
              <a:rPr lang="en-US" sz="1400" b="1" dirty="0">
                <a:solidFill>
                  <a:schemeClr val="tx1"/>
                </a:solidFill>
              </a:rPr>
              <a:t>Growth levers, not only savings</a:t>
            </a:r>
            <a:endParaRPr lang="en-US" sz="1400" dirty="0"/>
          </a:p>
        </p:txBody>
      </p:sp>
      <p:sp>
        <p:nvSpPr>
          <p:cNvPr id="28" name="divider-1"/>
          <p:cNvSpPr/>
          <p:nvPr/>
        </p:nvSpPr>
        <p:spPr>
          <a:xfrm>
            <a:off x="3749040" y="3474720"/>
            <a:ext cx="0" cy="2514600"/>
          </a:xfrm>
          <a:prstGeom prst="line">
            <a:avLst/>
          </a:prstGeom>
          <a:noFill/>
          <a:ln w="12700">
            <a:solidFill>
              <a:schemeClr val="accent5"/>
            </a:solidFill>
            <a:prstDash val="dash"/>
          </a:ln>
        </p:spPr>
      </p:sp>
      <p:sp>
        <p:nvSpPr>
          <p:cNvPr id="29" name="divider-2"/>
          <p:cNvSpPr/>
          <p:nvPr/>
        </p:nvSpPr>
        <p:spPr>
          <a:xfrm>
            <a:off x="7452360" y="3474720"/>
            <a:ext cx="0" cy="2514600"/>
          </a:xfrm>
          <a:prstGeom prst="line">
            <a:avLst/>
          </a:prstGeom>
          <a:noFill/>
          <a:ln w="12700">
            <a:solidFill>
              <a:schemeClr val="accent5"/>
            </a:solidFill>
            <a:prstDash val="dash"/>
          </a:ln>
        </p:spPr>
      </p:sp>
    </p:spTree>
  </p:cSld>
  <p:clrMapOvr>
    <a:masterClrMapping/>
  </p:clrMapOvr>
</p:sld>
</file>

<file path=ppt/theme/theme1.xml><?xml version="1.0" encoding="utf-8"?>
<a:theme xmlns:a="http://schemas.openxmlformats.org/drawingml/2006/main" name="Multivar">
  <a:themeElements>
    <a:clrScheme name="Multivar">
      <a:dk1>
        <a:srgbClr val="1B1F24"/>
      </a:dk1>
      <a:lt1>
        <a:srgbClr val="FFFFFF"/>
      </a:lt1>
      <a:dk2>
        <a:srgbClr val="1B3139"/>
      </a:dk2>
      <a:lt2>
        <a:srgbClr val="F3F1EC"/>
      </a:lt2>
      <a:accent1>
        <a:srgbClr val="FF3621"/>
      </a:accent1>
      <a:accent2>
        <a:srgbClr val="F59E0B"/>
      </a:accent2>
      <a:accent3>
        <a:srgbClr val="0B6E4F"/>
      </a:accent3>
      <a:accent4>
        <a:srgbClr val="5D6570"/>
      </a:accent4>
      <a:accent5>
        <a:srgbClr val="E3DED4"/>
      </a:accent5>
      <a:accent6>
        <a:srgbClr val="2F3C7E"/>
      </a:accent6>
      <a:hlink>
        <a:srgbClr val="FF3621"/>
      </a:hlink>
      <a:folHlink>
        <a:srgbClr val="5D6570"/>
      </a:folHlink>
    </a:clrScheme>
    <a:fontScheme name="Multiv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Multivar Roadmap</dc:title>
  <dc:subject>PptxGenJS Presentation</dc:subject>
  <dc:creator>PptxGenJS</dc:creator>
  <cp:lastModifiedBy>PptxGenJS</cp:lastModifiedBy>
  <cp:revision>1</cp:revision>
  <dcterms:created xsi:type="dcterms:W3CDTF">2026-10-08T17:07:30Z</dcterms:created>
  <dcterms:modified xsi:type="dcterms:W3CDTF">2026-10-08T17:07:30Z</dcterms:modified>
</cp:coreProperties>
</file>