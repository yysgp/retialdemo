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ustomer proof" id="{0538a41e-881f-18bf-77a5-a6c9324bb94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story per person. Al-Futtaim for Merchandising and the CFO: forecasting cut lost-sale and inventory holding cost by 30%. Wehkamp for the VP Ops &amp; Data: a European retailer that left a heavy legacy platform and cut operating cost by about 70%. Skechers for the CFO and marketing: a single customer view made acquisition 68% cheaper and raised ROAS by 28%. All figures are from Databricks' published customer stories. Be clear that Wehkamp's 2x revenue is a stated expectation.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atabricks.com/customers/al-futtaim" TargetMode="External"/><Relationship Id="rId2" Type="http://schemas.openxmlformats.org/officeDocument/2006/relationships/hyperlink" Target="https://www.databricks.com/customers/wehkamp" TargetMode="External"/><Relationship Id="rId3" Type="http://schemas.openxmlformats.org/officeDocument/2006/relationships/hyperlink" Target="https://www.databricks.com/customers/skechers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RETAILERS ON DATABRICKS · PUBLISHED CUSTOMER 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Fix the data first, then both lines of the P&amp;L move</a:t>
            </a:r>
            <a:endParaRPr lang="en-US" sz="2800" dirty="0"/>
          </a:p>
        </p:txBody>
      </p:sp>
      <p:sp>
        <p:nvSpPr>
          <p:cNvPr id="4" name="case-1"/>
          <p:cNvSpPr/>
          <p:nvPr/>
        </p:nvSpPr>
        <p:spPr>
          <a:xfrm>
            <a:off x="457200" y="1325880"/>
            <a:ext cx="3575304" cy="4572000"/>
          </a:xfrm>
          <a:prstGeom prst="roundRect">
            <a:avLst>
              <a:gd name="adj" fmla="val 255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Al-Futtaim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92808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Retail group, Middle East (incl. Marks &amp; Spencer)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DATA CHALLENGE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7802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Data silos across brands meant no single view of the customer. BI was slow and forecasting couldn't scale.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4612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WHAT THEY BUILT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8386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"golden customer record" in Delta Lake that feeds demand forecasting and the Blue loyalty programme.</a:t>
            </a:r>
            <a:endParaRPr lang="en-US" sz="1250" dirty="0"/>
          </a:p>
        </p:txBody>
      </p:sp>
      <p:sp>
        <p:nvSpPr>
          <p:cNvPr id="11" name="case-1-top-line"/>
          <p:cNvSpPr/>
          <p:nvPr/>
        </p:nvSpPr>
        <p:spPr>
          <a:xfrm>
            <a:off x="685800" y="4206240"/>
            <a:ext cx="149047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4297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3"/>
                </a:solidFill>
              </a:rPr>
              <a:t>TOP LINE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4805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4901184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sales from a data- and AI-targeted campaign (Toyota, UAE)</a:t>
            </a:r>
            <a:endParaRPr lang="en-US" sz="1000" dirty="0"/>
          </a:p>
        </p:txBody>
      </p:sp>
      <p:sp>
        <p:nvSpPr>
          <p:cNvPr id="15" name="case-1-bottom-line"/>
          <p:cNvSpPr/>
          <p:nvPr/>
        </p:nvSpPr>
        <p:spPr>
          <a:xfrm>
            <a:off x="2313432" y="4206240"/>
            <a:ext cx="149047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4297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6"/>
                </a:solidFill>
              </a:rPr>
              <a:t>BOTTOM LINE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44805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901184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lost-sale and inventory holding cost (M&amp;S forecasting)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62356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chemeClr val="accent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databricks.com/customers/al-futtaim</a:t>
            </a:r>
            <a:endParaRPr lang="en-US" sz="900" dirty="0"/>
          </a:p>
        </p:txBody>
      </p:sp>
      <p:sp>
        <p:nvSpPr>
          <p:cNvPr id="20" name="case-2"/>
          <p:cNvSpPr/>
          <p:nvPr/>
        </p:nvSpPr>
        <p:spPr>
          <a:xfrm>
            <a:off x="4306824" y="1325880"/>
            <a:ext cx="3575304" cy="4572000"/>
          </a:xfrm>
          <a:prstGeom prst="roundRect">
            <a:avLst>
              <a:gd name="adj" fmla="val 255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150876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Wehkamp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1892808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Dutch online retailer · 400k products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224028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DATA CHALLENGE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35424" y="247802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Hadoop data warehouse that needed heavy DevOps support. Only analysts could use the data, and new features took over a year.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35424" y="324612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WHAT THEY BUILT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35424" y="348386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lakehouse with MLflow: 10 types of recommendation, product-image classification, hundreds of models trained a day.</a:t>
            </a:r>
            <a:endParaRPr lang="en-US" sz="1250" dirty="0"/>
          </a:p>
        </p:txBody>
      </p:sp>
      <p:sp>
        <p:nvSpPr>
          <p:cNvPr id="27" name="case-2-top-line"/>
          <p:cNvSpPr/>
          <p:nvPr/>
        </p:nvSpPr>
        <p:spPr>
          <a:xfrm>
            <a:off x="4535424" y="4206240"/>
            <a:ext cx="149047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45152" y="4297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3"/>
                </a:solidFill>
              </a:rPr>
              <a:t>TOP LINE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645152" y="44805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4645152" y="4901184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revenue expected from personalisation (company target)</a:t>
            </a:r>
            <a:endParaRPr lang="en-US" sz="1000" dirty="0"/>
          </a:p>
        </p:txBody>
      </p:sp>
      <p:sp>
        <p:nvSpPr>
          <p:cNvPr id="31" name="case-2-bottom-line"/>
          <p:cNvSpPr/>
          <p:nvPr/>
        </p:nvSpPr>
        <p:spPr>
          <a:xfrm>
            <a:off x="6163056" y="4206240"/>
            <a:ext cx="149047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72784" y="4297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6"/>
                </a:solidFill>
              </a:rPr>
              <a:t>BOTTOM LINE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44805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4901184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operational cost after moving from Hadoop to Databricks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35424" y="562356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chemeClr val="accent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databricks.com/customers/wehkamp</a:t>
            </a:r>
            <a:endParaRPr lang="en-US" sz="900" dirty="0"/>
          </a:p>
        </p:txBody>
      </p:sp>
      <p:sp>
        <p:nvSpPr>
          <p:cNvPr id="36" name="case-3"/>
          <p:cNvSpPr/>
          <p:nvPr/>
        </p:nvSpPr>
        <p:spPr>
          <a:xfrm>
            <a:off x="8156448" y="1325880"/>
            <a:ext cx="3575304" cy="4572000"/>
          </a:xfrm>
          <a:prstGeom prst="roundRect">
            <a:avLst>
              <a:gd name="adj" fmla="val 255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85048" y="150876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Skechers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8385048" y="1892808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Global footwear brand · stores and e-commerce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385048" y="224028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DATA CHALLENGE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385048" y="247802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Channel-centric data and marketing; the brand couldn't treat a shopper as one customer across digital and stores.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385048" y="324612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WHAT THEY BUILT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385048" y="348386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Customer-centric data on Databricks with a composable CDP (Uniphore, formerly ActionIQ) for personalised journeys.</a:t>
            </a:r>
            <a:endParaRPr lang="en-US" sz="1250" dirty="0"/>
          </a:p>
        </p:txBody>
      </p:sp>
      <p:sp>
        <p:nvSpPr>
          <p:cNvPr id="43" name="case-3-top-line"/>
          <p:cNvSpPr/>
          <p:nvPr/>
        </p:nvSpPr>
        <p:spPr>
          <a:xfrm>
            <a:off x="8385048" y="4206240"/>
            <a:ext cx="149047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494776" y="4297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3"/>
                </a:solidFill>
              </a:rPr>
              <a:t>TOP LINE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8494776" y="44805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8494776" y="4901184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return on ad spend; click-through rate up 324%</a:t>
            </a:r>
            <a:endParaRPr lang="en-US" sz="1000" dirty="0"/>
          </a:p>
        </p:txBody>
      </p:sp>
      <p:sp>
        <p:nvSpPr>
          <p:cNvPr id="47" name="case-3-bottom-line"/>
          <p:cNvSpPr/>
          <p:nvPr/>
        </p:nvSpPr>
        <p:spPr>
          <a:xfrm>
            <a:off x="10012680" y="4206240"/>
            <a:ext cx="149047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22408" y="4297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6"/>
                </a:solidFill>
              </a:rPr>
              <a:t>BOTTOM LINE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0122408" y="44805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−68%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10122408" y="4901184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acquisition cost (cost per click)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385048" y="562356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chemeClr val="accent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databricks.com/customers/skechers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 common pattern: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unify siloed customer, sales and stock data first; forecasting and personalisation then pay back in revenue and cost. This is the path we propose for Multivar.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Figures as published by Databricks in each customer's story on databricks.com (self-reported by the customer). Wehkamp's 2× revenue is the company's stated expectation, not a measured result.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var">
  <a:themeElements>
    <a:clrScheme name="Multivar">
      <a:dk1>
        <a:srgbClr val="1B1F24"/>
      </a:dk1>
      <a:lt1>
        <a:srgbClr val="FFFFFF"/>
      </a:lt1>
      <a:dk2>
        <a:srgbClr val="1B3139"/>
      </a:dk2>
      <a:lt2>
        <a:srgbClr val="F3F1EC"/>
      </a:lt2>
      <a:accent1>
        <a:srgbClr val="FF3621"/>
      </a:accent1>
      <a:accent2>
        <a:srgbClr val="F59E0B"/>
      </a:accent2>
      <a:accent3>
        <a:srgbClr val="0B6E4F"/>
      </a:accent3>
      <a:accent4>
        <a:srgbClr val="5D6570"/>
      </a:accent4>
      <a:accent5>
        <a:srgbClr val="E3DED4"/>
      </a:accent5>
      <a:accent6>
        <a:srgbClr val="2F3C7E"/>
      </a:accent6>
      <a:hlink>
        <a:srgbClr val="FF3621"/>
      </a:hlink>
      <a:folHlink>
        <a:srgbClr val="5D6570"/>
      </a:folHlink>
    </a:clrScheme>
    <a:fontScheme name="Multiv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Retail Customer Results</dc:title>
  <dc:subject>PptxGenJS Presentation</dc:subject>
  <dc:creator>PptxGenJS</dc:creator>
  <cp:lastModifiedBy>PptxGenJS</cp:lastModifiedBy>
  <cp:revision>1</cp:revision>
  <dcterms:created xsi:type="dcterms:W3CDTF">2026-10-08T09:57:43Z</dcterms:created>
  <dcterms:modified xsi:type="dcterms:W3CDTF">2026-10-08T09:57:43Z</dcterms:modified>
</cp:coreProperties>
</file>