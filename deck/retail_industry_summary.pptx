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dustry summary" id="{5b8219e4-14cb-d4eb-94cf-f6705b049fd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are from published research by the organisations listed at the foot of the slide. Survey-based figures (Deloitte, BoF-McKinsey, Gartner) are executive expectations; IHL and NRF figures are modelled estimates. Use the 2–3 numbers most relevant to the audience: inventory distortion and returns for merchandising, value-seeking and margin for the CFO, AI-ready data for the data leader.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RETAIL INDUSTRY STUDY · SUMMARY OF PUBLISHED RESEARCH, 2025–2026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Retail's margin squeeze is a data problem first</a:t>
            </a:r>
            <a:endParaRPr lang="en-US" sz="2800" dirty="0"/>
          </a:p>
        </p:txBody>
      </p:sp>
      <p:sp>
        <p:nvSpPr>
          <p:cNvPr id="4" name="column-1"/>
          <p:cNvSpPr/>
          <p:nvPr/>
        </p:nvSpPr>
        <p:spPr>
          <a:xfrm>
            <a:off x="457200" y="1371600"/>
            <a:ext cx="3575304" cy="4069080"/>
          </a:xfrm>
          <a:prstGeom prst="roundRect">
            <a:avLst>
              <a:gd name="adj" fmla="val 255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dot-1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152704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BUSINESS CHALLENGES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9339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~$1.7T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99339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lost a year to out-of-stocks and overstocks: 6.2% of global retail sales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[1]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6207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86207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US retail sales returned in 2025 (~$850B); 19.3% for online sales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[2]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3075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3075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retail leaders see trading down as structural; nearly all expect higher trade costs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[3]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9943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59943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forecast 2026 fashion growth in Europe; nearly half of executives expect worse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[4]</a:t>
            </a:r>
            <a:endParaRPr lang="en-US" sz="1250" dirty="0"/>
          </a:p>
        </p:txBody>
      </p:sp>
      <p:sp>
        <p:nvSpPr>
          <p:cNvPr id="15" name="column-2"/>
          <p:cNvSpPr/>
          <p:nvPr/>
        </p:nvSpPr>
        <p:spPr>
          <a:xfrm>
            <a:off x="4306824" y="1371600"/>
            <a:ext cx="3575304" cy="4069080"/>
          </a:xfrm>
          <a:prstGeom prst="roundRect">
            <a:avLst>
              <a:gd name="adj" fmla="val 255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dot-2"/>
          <p:cNvSpPr/>
          <p:nvPr/>
        </p:nvSpPr>
        <p:spPr>
          <a:xfrm>
            <a:off x="4535424" y="1572768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28032" y="152704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</a:rPr>
              <a:t>GROWTH AREAS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199339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632704" y="199339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more revenue from personalisation at leaders; 71% of consumers expect it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[5]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35424" y="286207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32704" y="286207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retailers plan to deploy agentic AI within the next 12–24 months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[3]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373075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$178B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632704" y="373075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commerce media revenue in 2025 (+11.6%), now ahead of TV; retail media up 11.3%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[6]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35424" y="459943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2–3×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632704" y="459943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faster growth for resale than first-hand fashion through 2027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[4]</a:t>
            </a:r>
            <a:endParaRPr lang="en-US" sz="1250" dirty="0"/>
          </a:p>
        </p:txBody>
      </p:sp>
      <p:sp>
        <p:nvSpPr>
          <p:cNvPr id="26" name="column-3"/>
          <p:cNvSpPr/>
          <p:nvPr/>
        </p:nvSpPr>
        <p:spPr>
          <a:xfrm>
            <a:off x="8156448" y="1371600"/>
            <a:ext cx="3575304" cy="4069080"/>
          </a:xfrm>
          <a:prstGeom prst="roundRect">
            <a:avLst>
              <a:gd name="adj" fmla="val 255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dot-3"/>
          <p:cNvSpPr/>
          <p:nvPr/>
        </p:nvSpPr>
        <p:spPr>
          <a:xfrm>
            <a:off x="8385048" y="1572768"/>
            <a:ext cx="201168" cy="2011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77656" y="152704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6"/>
                </a:solidFill>
              </a:rPr>
              <a:t>ASSOCIATED DATA ISSUES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85048" y="199339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482328" y="199339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organisations lack, or can't confirm, data management practices ready for AI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[7]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86207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482328" y="286207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AI projects without AI-ready data will be abandoned through 2026 (Gartner forecast)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[7]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85048" y="373075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10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9482328" y="373075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retailers use AI for supply-chain visibility today; 41% expect to within a year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[3]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385048" y="459943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482328" y="4599432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of EU internet users bought online in 2025: journeys now span store and web</a:t>
            </a:r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 [8]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55040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 what: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growth levers (forecasting, markdown, personalisation, AI agents) all depend on one trusted view of customer, stock and returns. Retailers that fix the data foundation first can capture them; the rest stay in pilots.</a:t>
            </a:r>
            <a:endParaRPr lang="en-US" sz="1400" dirty="0"/>
          </a:p>
        </p:txBody>
      </p:sp>
      <p:sp>
        <p:nvSpPr>
          <p:cNvPr id="38" name="sources-1"/>
          <p:cNvSpPr txBox="1"/>
          <p:nvPr/>
        </p:nvSpPr>
        <p:spPr>
          <a:xfrm>
            <a:off x="457200" y="6199632"/>
            <a:ext cx="55458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[1] IHL Group, The 2026 Inventory Distortion Study (2026)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[2] NRF &amp; Happy Returns, 2025 Retail Returns Landscape (Oct 2025)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[3] Deloitte, 2026 Global Retail Industry Outlook (survey of 330 retail executives)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[4] The Business of Fashion &amp; McKinsey &amp; Company, The State of Fashion 2026 (Nov 2025)</a:t>
            </a:r>
            <a:endParaRPr lang="en-US" sz="900" dirty="0"/>
          </a:p>
        </p:txBody>
      </p:sp>
      <p:sp>
        <p:nvSpPr>
          <p:cNvPr id="39" name="sources-2"/>
          <p:cNvSpPr txBox="1"/>
          <p:nvPr/>
        </p:nvSpPr>
        <p:spPr>
          <a:xfrm>
            <a:off x="6185916" y="6199632"/>
            <a:ext cx="55458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[5] McKinsey &amp; Company, The value of getting personalization right—or wrong—is multiplying (Nov 2021)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[6] WPP Media, This Year Next Year: end-of-year global forecast (Dec 2025)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[7] Gartner, Lack of AI-Ready Data Puts AI Projects at Risk (press release, 26 Feb 2025)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[8] Eurostat, E-commerce statistics for individuals (2025 data, Feb 2026)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var">
  <a:themeElements>
    <a:clrScheme name="Multivar">
      <a:dk1>
        <a:srgbClr val="1B1F24"/>
      </a:dk1>
      <a:lt1>
        <a:srgbClr val="FFFFFF"/>
      </a:lt1>
      <a:dk2>
        <a:srgbClr val="1B3139"/>
      </a:dk2>
      <a:lt2>
        <a:srgbClr val="F3F1EC"/>
      </a:lt2>
      <a:accent1>
        <a:srgbClr val="FF3621"/>
      </a:accent1>
      <a:accent2>
        <a:srgbClr val="F59E0B"/>
      </a:accent2>
      <a:accent3>
        <a:srgbClr val="0B6E4F"/>
      </a:accent3>
      <a:accent4>
        <a:srgbClr val="5D6570"/>
      </a:accent4>
      <a:accent5>
        <a:srgbClr val="E3DED4"/>
      </a:accent5>
      <a:accent6>
        <a:srgbClr val="2F3C7E"/>
      </a:accent6>
      <a:hlink>
        <a:srgbClr val="FF3621"/>
      </a:hlink>
      <a:folHlink>
        <a:srgbClr val="5D6570"/>
      </a:folHlink>
    </a:clrScheme>
    <a:fontScheme name="Multiv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Industry Study Summary</dc:title>
  <dc:subject>PptxGenJS Presentation</dc:subject>
  <dc:creator>PptxGenJS</dc:creator>
  <cp:lastModifiedBy>PptxGenJS</cp:lastModifiedBy>
  <cp:revision>1</cp:revision>
  <dcterms:created xsi:type="dcterms:W3CDTF">2026-10-08T09:17:46Z</dcterms:created>
  <dcterms:modified xsi:type="dcterms:W3CDTF">2026-10-08T09:17:46Z</dcterms:modified>
</cp:coreProperties>
</file>