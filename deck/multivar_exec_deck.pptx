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 id="{275051b7-2826-8263-22cc-28d5ead8b69c}">
          <p14:sldIdLst>
            <p14:sldId id="256"/>
          </p14:sldIdLst>
        </p14:section>
        <p14:section name="Discovery" id="{d42eafe8-2d9a-b7c3-ebfe-79b4679ef732}">
          <p14:sldIdLst>
            <p14:sldId id="257"/>
            <p14:sldId id="258"/>
            <p14:sldId id="259"/>
          </p14:sldIdLst>
        </p14:section>
        <p14:section name="Demo" id="{c11edc4c-565b-c7f8-cf9b-608b9bd63f1e}">
          <p14:sldIdLst>
            <p14:sldId id="260"/>
          </p14:sldIdLst>
        </p14:section>
        <p14:section name="Vision &amp; plan" id="{1fe886f1-131d-be1d-9af8-c756e217ab91}">
          <p14:sldIdLst>
            <p14:sldId id="261"/>
            <p14:sldId id="262"/>
          </p14:sldIdLst>
        </p14:section>
        <p14:section name="Close" id="{a9f3d804-9423-68f2-7f35-8fb4ced7e526}">
          <p14:sldIdLst>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Address the empty chairs: our sales lead and your SA are stuck at the airport. You get the full conversation and I'll follow up with them within 24 hours. I'd rather spend most of today listening than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CFO: what did markdowns cost last year as % of sales, and what GM% are you committed to? Merch: when a fast mover sells out in Lyon, when do you find out? Ops &amp; Data: how big is the team, what's at the top of the backlog, what failed last time? Validate: ~€400M revenue, 5 markets, ~15% online, loyalty covers 40-60% of sales.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the €400M with their own revenue and markdown figures from discovery. Say it as 'so for you, that's roughly €X'.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 each person to agree to one metric. Don't move on until the CFO accepts the baseline-and-target approach.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Dashboard Margin page (CFO) → Stock page (Merch: four stores, replenishment not demand; forecast; Monday reorder list) → Genie, one question per persona → Customer page (omnichannel ~3x). If something breaks: 'this step joins the online email to the loyalty ID — that join is the single customer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Peers: Inditex, H&amp;M and Primark run demand-led allocation. Lakehouse makes that achievable for a mid-market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Objection 'we can't staff it': serverless, no infrastructure, SQL-first so your 2-4 analysts run it; Genie takes ad-hoc questions off the backlog. 'Cost/risk': fixed-scope sprint with exit gate, pay-per-use, data stays in your cloud in open formats. 'Why not our ERP/BI vendor': they report the past and don't combine loyalty, web and stock with forecasting and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'Can we agree on a sponsor and the success metrics by Thursday, so we can kick off on day 10?' Get a name and a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463040"/>
            <a:ext cx="11091672" cy="457200"/>
          </a:xfrm>
          <a:prstGeom prst="rect">
            <a:avLst/>
          </a:prstGeom>
          <a:noFill/>
          <a:ln/>
        </p:spPr>
        <p:txBody>
          <a:bodyPr wrap="square" rtlCol="0"/>
          <a:lstStyle>
            <a:lvl1pPr indent="0" marL="0">
              <a:buNone/>
              <a:defRPr lang="en-US" sz="1400" b="1" spc="200" kern="0" dirty="0">
                <a:solidFill>
                  <a:schemeClr val="accent1"/>
                </a:solidFill>
              </a:defRPr>
            </a:lvl1pPr>
          </a:lstStyle>
          <a:p>
            <a:pPr indent="0" marL="0">
              <a:buNone/>
            </a:pPr>
            <a:endParaRPr lang="en-US" sz="1400" dirty="0"/>
          </a:p>
        </p:txBody>
      </p:sp>
      <p:sp>
        <p:nvSpPr>
          <p:cNvPr id="3" name="Text 0"/>
          <p:cNvSpPr/>
          <p:nvPr>
            <p:ph idx="101" type="title" hasCustomPrompt="1"/>
          </p:nvPr>
        </p:nvSpPr>
        <p:spPr>
          <a:xfrm>
            <a:off x="548640" y="2011680"/>
            <a:ext cx="11091672" cy="201168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548640" y="4206240"/>
            <a:ext cx="9144000" cy="1097280"/>
          </a:xfrm>
          <a:prstGeom prst="rect">
            <a:avLst/>
          </a:prstGeom>
          <a:noFill/>
          <a:ln/>
        </p:spPr>
        <p:txBody>
          <a:bodyPr wrap="square" rtlCol="0"/>
          <a:lstStyle>
            <a:lvl1pPr indent="0" marL="0">
              <a:buNone/>
              <a:defRPr lang="en-US" sz="2000" dirty="0">
                <a:solidFill>
                  <a:schemeClr val="accent5"/>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1091672" cy="365760"/>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731520"/>
            <a:ext cx="11091672" cy="91440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4" name="Text 0"/>
          <p:cNvSpPr/>
          <p:nvPr/>
        </p:nvSpPr>
        <p:spPr>
          <a:xfrm>
            <a:off x="548640" y="6400800"/>
            <a:ext cx="5486400" cy="274320"/>
          </a:xfrm>
          <a:prstGeom prst="rect">
            <a:avLst/>
          </a:prstGeom>
          <a:noFill/>
          <a:ln/>
        </p:spPr>
        <p:txBody>
          <a:bodyPr wrap="square" rtlCol="0" anchor="ctr"/>
          <a:lstStyle/>
          <a:p>
            <a:pPr indent="0" marL="0">
              <a:buNone/>
            </a:pPr>
            <a:r>
              <a:rPr lang="en-US" sz="1000" dirty="0">
                <a:solidFill>
                  <a:schemeClr val="accent4"/>
                </a:solidFill>
              </a:rPr>
              <a:t>Multivar × Databricks  ·  Confidential</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463040"/>
            <a:ext cx="11091672" cy="457200"/>
          </a:xfrm>
          <a:prstGeom prst="rect">
            <a:avLst/>
          </a:prstGeom>
          <a:noFill/>
          <a:ln/>
        </p:spPr>
        <p:txBody>
          <a:bodyPr wrap="square" rtlCol="0"/>
          <a:lstStyle/>
          <a:p>
            <a:pPr indent="0" marL="0">
              <a:buNone/>
            </a:pPr>
            <a:r>
              <a:rPr lang="en-US" sz="1400" b="1" spc="200" kern="0" dirty="0">
                <a:solidFill>
                  <a:schemeClr val="accent1"/>
                </a:solidFill>
              </a:rPr>
              <a:t>MULTIVAR × DATABRICKS  ·  EXECUTIVE SESSION</a:t>
            </a:r>
            <a:endParaRPr lang="en-US" sz="1400" dirty="0"/>
          </a:p>
        </p:txBody>
      </p:sp>
      <p:sp>
        <p:nvSpPr>
          <p:cNvPr id="3" name="Text 0"/>
          <p:cNvSpPr/>
          <p:nvPr>
            <p:ph idx="101" type="title" hasCustomPrompt="1"/>
          </p:nvPr>
        </p:nvSpPr>
        <p:spPr>
          <a:xfrm>
            <a:off x="548640" y="2011680"/>
            <a:ext cx="11091672" cy="2011680"/>
          </a:xfrm>
          <a:prstGeom prst="rect">
            <a:avLst/>
          </a:prstGeom>
          <a:noFill/>
          <a:ln/>
        </p:spPr>
        <p:txBody>
          <a:bodyPr wrap="square" rtlCol="0" anchor="t"/>
          <a:lstStyle/>
          <a:p>
            <a:pPr algn="l" indent="0" marL="0">
              <a:buNone/>
            </a:pPr>
            <a:r>
              <a:rPr lang="en-US" sz="4400" b="1" dirty="0">
                <a:solidFill>
                  <a:schemeClr val="bg1"/>
                </a:solidFill>
              </a:rPr>
              <a:t>Stop flying blind on stock and markdowns. Protect margin in weeks, not years</a:t>
            </a:r>
            <a:endParaRPr lang="en-US" sz="4400" dirty="0"/>
          </a:p>
        </p:txBody>
      </p:sp>
      <p:sp>
        <p:nvSpPr>
          <p:cNvPr id="4" name="Text 0"/>
          <p:cNvSpPr/>
          <p:nvPr>
            <p:ph idx="102" type="body" hasCustomPrompt="1"/>
          </p:nvPr>
        </p:nvSpPr>
        <p:spPr>
          <a:xfrm>
            <a:off x="548640" y="4206240"/>
            <a:ext cx="9144000" cy="1097280"/>
          </a:xfrm>
          <a:prstGeom prst="rect">
            <a:avLst/>
          </a:prstGeom>
          <a:noFill/>
          <a:ln/>
        </p:spPr>
        <p:txBody>
          <a:bodyPr wrap="square" rtlCol="0" anchor="t"/>
          <a:lstStyle/>
          <a:p>
            <a:pPr indent="0" marL="0">
              <a:buNone/>
            </a:pPr>
            <a:r>
              <a:rPr lang="en-US" sz="2000" dirty="0">
                <a:solidFill>
                  <a:schemeClr val="accent5"/>
                </a:solidFill>
              </a:rPr>
              <a:t>One trusted view of customer and stock across every market and channel, built with the team you already have.</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1091672" cy="365760"/>
          </a:xfrm>
          <a:prstGeom prst="rect">
            <a:avLst/>
          </a:prstGeom>
          <a:noFill/>
          <a:ln/>
        </p:spPr>
        <p:txBody>
          <a:bodyPr wrap="square" rtlCol="0"/>
          <a:lstStyle/>
          <a:p>
            <a:pPr indent="0" marL="0">
              <a:buNone/>
            </a:pPr>
            <a:r>
              <a:rPr lang="en-US" sz="1200" b="1" spc="200" kern="0" dirty="0">
                <a:solidFill>
                  <a:schemeClr val="accent1"/>
                </a:solidFill>
              </a:rPr>
              <a:t>01 · WHAT WE HEARD. CORRECT US.</a:t>
            </a:r>
            <a:endParaRPr lang="en-US" sz="1200" dirty="0"/>
          </a:p>
        </p:txBody>
      </p:sp>
      <p:sp>
        <p:nvSpPr>
          <p:cNvPr id="3" name="Text 0"/>
          <p:cNvSpPr/>
          <p:nvPr>
            <p:ph idx="101" type="title" hasCustomPrompt="1"/>
          </p:nvPr>
        </p:nvSpPr>
        <p:spPr>
          <a:xfrm>
            <a:off x="548640" y="731520"/>
            <a:ext cx="11091672" cy="914400"/>
          </a:xfrm>
          <a:prstGeom prst="rect">
            <a:avLst/>
          </a:prstGeom>
          <a:noFill/>
          <a:ln/>
        </p:spPr>
        <p:txBody>
          <a:bodyPr wrap="square" rtlCol="0" anchor="t"/>
          <a:lstStyle/>
          <a:p>
            <a:pPr algn="l" indent="0" marL="0">
              <a:buNone/>
            </a:pPr>
            <a:r>
              <a:rPr lang="en-US" sz="3400" b="1" dirty="0">
                <a:solidFill>
                  <a:schemeClr val="tx1"/>
                </a:solidFill>
              </a:rPr>
              <a:t>Margin is leaking in places nobody can see in time</a:t>
            </a:r>
            <a:endParaRPr lang="en-US" sz="3400" dirty="0"/>
          </a:p>
        </p:txBody>
      </p:sp>
      <p:sp>
        <p:nvSpPr>
          <p:cNvPr id="4" name="card1"/>
          <p:cNvSpPr/>
          <p:nvPr/>
        </p:nvSpPr>
        <p:spPr>
          <a:xfrm>
            <a:off x="548640" y="1920240"/>
            <a:ext cx="3483864" cy="2377440"/>
          </a:xfrm>
          <a:prstGeom prst="roundRect">
            <a:avLst>
              <a:gd name="adj" fmla="val 4615"/>
            </a:avLst>
          </a:prstGeom>
          <a:solidFill>
            <a:schemeClr val="bg2"/>
          </a:solidFill>
          <a:ln w="9525">
            <a:solidFill>
              <a:schemeClr val="accent5"/>
            </a:solidFill>
            <a:prstDash val="solid"/>
          </a:ln>
        </p:spPr>
      </p:sp>
      <p:sp>
        <p:nvSpPr>
          <p:cNvPr id="5" name="Text 3"/>
          <p:cNvSpPr txBox="1"/>
          <p:nvPr/>
        </p:nvSpPr>
        <p:spPr>
          <a:xfrm>
            <a:off x="777240" y="2148840"/>
            <a:ext cx="3026664" cy="685800"/>
          </a:xfrm>
          <a:prstGeom prst="rect">
            <a:avLst/>
          </a:prstGeom>
          <a:noFill/>
          <a:ln/>
        </p:spPr>
        <p:txBody>
          <a:bodyPr wrap="square" lIns="0" tIns="0" rIns="0" bIns="0" rtlCol="0" anchor="t"/>
          <a:lstStyle/>
          <a:p>
            <a:pPr indent="0" marL="0">
              <a:buNone/>
            </a:pPr>
            <a:r>
              <a:rPr lang="en-US" sz="1800" b="1" dirty="0">
                <a:solidFill>
                  <a:schemeClr val="tx1"/>
                </a:solidFill>
              </a:rPr>
              <a:t>Four systems, no single truth</a:t>
            </a:r>
            <a:endParaRPr lang="en-US" sz="1800" dirty="0"/>
          </a:p>
        </p:txBody>
      </p:sp>
      <p:sp>
        <p:nvSpPr>
          <p:cNvPr id="6" name="Text 4"/>
          <p:cNvSpPr txBox="1"/>
          <p:nvPr/>
        </p:nvSpPr>
        <p:spPr>
          <a:xfrm>
            <a:off x="777240" y="2880360"/>
            <a:ext cx="3026664" cy="1234440"/>
          </a:xfrm>
          <a:prstGeom prst="rect">
            <a:avLst/>
          </a:prstGeom>
          <a:noFill/>
          <a:ln/>
        </p:spPr>
        <p:txBody>
          <a:bodyPr wrap="square" lIns="0" tIns="0" rIns="0" bIns="0" rtlCol="0" anchor="t"/>
          <a:lstStyle/>
          <a:p>
            <a:pPr indent="0" marL="0">
              <a:buNone/>
            </a:pPr>
            <a:r>
              <a:rPr lang="en-US" sz="1400" dirty="0">
                <a:solidFill>
                  <a:schemeClr val="accent4"/>
                </a:solidFill>
              </a:rPr>
              <a:t>POS, web, inventory and loyalty were bolted on over time. Every decision starts with a spreadsheet that is already out of date.</a:t>
            </a:r>
            <a:endParaRPr lang="en-US" sz="1400" dirty="0"/>
          </a:p>
        </p:txBody>
      </p:sp>
      <p:sp>
        <p:nvSpPr>
          <p:cNvPr id="7" name="card2"/>
          <p:cNvSpPr/>
          <p:nvPr/>
        </p:nvSpPr>
        <p:spPr>
          <a:xfrm>
            <a:off x="4352544" y="1920240"/>
            <a:ext cx="3483864" cy="2377440"/>
          </a:xfrm>
          <a:prstGeom prst="roundRect">
            <a:avLst>
              <a:gd name="adj" fmla="val 4615"/>
            </a:avLst>
          </a:prstGeom>
          <a:solidFill>
            <a:schemeClr val="bg2"/>
          </a:solidFill>
          <a:ln w="9525">
            <a:solidFill>
              <a:schemeClr val="accent5"/>
            </a:solidFill>
            <a:prstDash val="solid"/>
          </a:ln>
        </p:spPr>
      </p:sp>
      <p:sp>
        <p:nvSpPr>
          <p:cNvPr id="8" name="Text 6"/>
          <p:cNvSpPr txBox="1"/>
          <p:nvPr/>
        </p:nvSpPr>
        <p:spPr>
          <a:xfrm>
            <a:off x="4581144" y="2148840"/>
            <a:ext cx="3026664" cy="685800"/>
          </a:xfrm>
          <a:prstGeom prst="rect">
            <a:avLst/>
          </a:prstGeom>
          <a:noFill/>
          <a:ln/>
        </p:spPr>
        <p:txBody>
          <a:bodyPr wrap="square" lIns="0" tIns="0" rIns="0" bIns="0" rtlCol="0" anchor="t"/>
          <a:lstStyle/>
          <a:p>
            <a:pPr indent="0" marL="0">
              <a:buNone/>
            </a:pPr>
            <a:r>
              <a:rPr lang="en-US" sz="1800" b="1" dirty="0">
                <a:solidFill>
                  <a:schemeClr val="tx1"/>
                </a:solidFill>
              </a:rPr>
              <a:t>Merchandising is guessing</a:t>
            </a:r>
            <a:endParaRPr lang="en-US" sz="1800" dirty="0"/>
          </a:p>
        </p:txBody>
      </p:sp>
      <p:sp>
        <p:nvSpPr>
          <p:cNvPr id="9" name="Text 7"/>
          <p:cNvSpPr txBox="1"/>
          <p:nvPr/>
        </p:nvSpPr>
        <p:spPr>
          <a:xfrm>
            <a:off x="4581144" y="2880360"/>
            <a:ext cx="3026664" cy="1234440"/>
          </a:xfrm>
          <a:prstGeom prst="rect">
            <a:avLst/>
          </a:prstGeom>
          <a:noFill/>
          <a:ln/>
        </p:spPr>
        <p:txBody>
          <a:bodyPr wrap="square" lIns="0" tIns="0" rIns="0" bIns="0" rtlCol="0" anchor="t"/>
          <a:lstStyle/>
          <a:p>
            <a:pPr indent="0" marL="0">
              <a:buNone/>
            </a:pPr>
            <a:r>
              <a:rPr lang="en-US" sz="1400" dirty="0">
                <a:solidFill>
                  <a:schemeClr val="accent4"/>
                </a:solidFill>
              </a:rPr>
              <a:t>Seasonal buys are a one-shot bet. Markdowns come late and deep. Fast movers run out in the same stores again and again.</a:t>
            </a:r>
            <a:endParaRPr lang="en-US" sz="1400" dirty="0"/>
          </a:p>
        </p:txBody>
      </p:sp>
      <p:sp>
        <p:nvSpPr>
          <p:cNvPr id="10" name="card3"/>
          <p:cNvSpPr/>
          <p:nvPr/>
        </p:nvSpPr>
        <p:spPr>
          <a:xfrm>
            <a:off x="8156448" y="1920240"/>
            <a:ext cx="3483864" cy="2377440"/>
          </a:xfrm>
          <a:prstGeom prst="roundRect">
            <a:avLst>
              <a:gd name="adj" fmla="val 4615"/>
            </a:avLst>
          </a:prstGeom>
          <a:solidFill>
            <a:schemeClr val="bg2"/>
          </a:solidFill>
          <a:ln w="9525">
            <a:solidFill>
              <a:schemeClr val="accent5"/>
            </a:solidFill>
            <a:prstDash val="solid"/>
          </a:ln>
        </p:spPr>
      </p:sp>
      <p:sp>
        <p:nvSpPr>
          <p:cNvPr id="11" name="Text 9"/>
          <p:cNvSpPr txBox="1"/>
          <p:nvPr/>
        </p:nvSpPr>
        <p:spPr>
          <a:xfrm>
            <a:off x="8385048" y="2148840"/>
            <a:ext cx="3026664" cy="685800"/>
          </a:xfrm>
          <a:prstGeom prst="rect">
            <a:avLst/>
          </a:prstGeom>
          <a:noFill/>
          <a:ln/>
        </p:spPr>
        <p:txBody>
          <a:bodyPr wrap="square" lIns="0" tIns="0" rIns="0" bIns="0" rtlCol="0" anchor="t"/>
          <a:lstStyle/>
          <a:p>
            <a:pPr indent="0" marL="0">
              <a:buNone/>
            </a:pPr>
            <a:r>
              <a:rPr lang="en-US" sz="1800" b="1" dirty="0">
                <a:solidFill>
                  <a:schemeClr val="tx1"/>
                </a:solidFill>
              </a:rPr>
              <a:t>A small team with a long backlog</a:t>
            </a:r>
            <a:endParaRPr lang="en-US" sz="1800" dirty="0"/>
          </a:p>
        </p:txBody>
      </p:sp>
      <p:sp>
        <p:nvSpPr>
          <p:cNvPr id="12" name="Text 10"/>
          <p:cNvSpPr txBox="1"/>
          <p:nvPr/>
        </p:nvSpPr>
        <p:spPr>
          <a:xfrm>
            <a:off x="8385048" y="2880360"/>
            <a:ext cx="3026664" cy="1234440"/>
          </a:xfrm>
          <a:prstGeom prst="rect">
            <a:avLst/>
          </a:prstGeom>
          <a:noFill/>
          <a:ln/>
        </p:spPr>
        <p:txBody>
          <a:bodyPr wrap="square" lIns="0" tIns="0" rIns="0" bIns="0" rtlCol="0" anchor="t"/>
          <a:lstStyle/>
          <a:p>
            <a:pPr indent="0" marL="0">
              <a:buNone/>
            </a:pPr>
            <a:r>
              <a:rPr lang="en-US" sz="1400" dirty="0">
                <a:solidFill>
                  <a:schemeClr val="accent4"/>
                </a:solidFill>
              </a:rPr>
              <a:t>Every ambitious ask becomes a ticket. A heavyweight platform you can't staff would only add risk.</a:t>
            </a:r>
            <a:endParaRPr lang="en-US" sz="1400" dirty="0"/>
          </a:p>
        </p:txBody>
      </p:sp>
      <p:sp>
        <p:nvSpPr>
          <p:cNvPr id="13" name="Text 11"/>
          <p:cNvSpPr txBox="1"/>
          <p:nvPr/>
        </p:nvSpPr>
        <p:spPr>
          <a:xfrm>
            <a:off x="548640" y="4663440"/>
            <a:ext cx="11091672" cy="685800"/>
          </a:xfrm>
          <a:prstGeom prst="rect">
            <a:avLst/>
          </a:prstGeom>
          <a:noFill/>
          <a:ln/>
        </p:spPr>
        <p:txBody>
          <a:bodyPr wrap="square" lIns="0" tIns="0" rIns="0" bIns="0" rtlCol="0" anchor="t"/>
          <a:lstStyle/>
          <a:p>
            <a:pPr indent="0" marL="0">
              <a:buNone/>
            </a:pPr>
            <a:r>
              <a:rPr lang="en-US" sz="1600" b="1" dirty="0">
                <a:solidFill>
                  <a:schemeClr val="tx1"/>
                </a:solidFill>
              </a:rPr>
              <a:t>For the room: </a:t>
            </a:r>
            <a:pPr indent="0" marL="0">
              <a:buNone/>
            </a:pPr>
            <a:r>
              <a:rPr lang="en-US" sz="1600" dirty="0">
                <a:solidFill>
                  <a:schemeClr val="tx1"/>
                </a:solidFill>
              </a:rPr>
              <a:t>What share of revenue goes to markdowns? How fast do you know a store is out of stock? Which decision would you change first with trusted data?</a:t>
            </a:r>
            <a:endParaRPr lang="en-US" sz="16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1091672" cy="365760"/>
          </a:xfrm>
          <a:prstGeom prst="rect">
            <a:avLst/>
          </a:prstGeom>
          <a:noFill/>
          <a:ln/>
        </p:spPr>
        <p:txBody>
          <a:bodyPr wrap="square" rtlCol="0"/>
          <a:lstStyle/>
          <a:p>
            <a:pPr indent="0" marL="0">
              <a:buNone/>
            </a:pPr>
            <a:r>
              <a:rPr lang="en-US" sz="1200" b="1" spc="200" kern="0" dirty="0">
                <a:solidFill>
                  <a:schemeClr val="accent1"/>
                </a:solidFill>
              </a:rPr>
              <a:t>02 · THE COST OF STANDING STILL</a:t>
            </a:r>
            <a:endParaRPr lang="en-US" sz="1200" dirty="0"/>
          </a:p>
        </p:txBody>
      </p:sp>
      <p:sp>
        <p:nvSpPr>
          <p:cNvPr id="3" name="Text 0"/>
          <p:cNvSpPr/>
          <p:nvPr>
            <p:ph idx="101" type="title" hasCustomPrompt="1"/>
          </p:nvPr>
        </p:nvSpPr>
        <p:spPr>
          <a:xfrm>
            <a:off x="548640" y="731520"/>
            <a:ext cx="11091672" cy="914400"/>
          </a:xfrm>
          <a:prstGeom prst="rect">
            <a:avLst/>
          </a:prstGeom>
          <a:noFill/>
          <a:ln/>
        </p:spPr>
        <p:txBody>
          <a:bodyPr wrap="square" rtlCol="0" anchor="t"/>
          <a:lstStyle/>
          <a:p>
            <a:pPr algn="l" indent="0" marL="0">
              <a:buNone/>
            </a:pPr>
            <a:r>
              <a:rPr lang="en-US" sz="3400" b="1" dirty="0">
                <a:solidFill>
                  <a:schemeClr val="tx1"/>
                </a:solidFill>
              </a:rPr>
              <a:t>Every season of waiting costs margin you can't recover</a:t>
            </a:r>
            <a:endParaRPr lang="en-US" sz="3400" dirty="0"/>
          </a:p>
        </p:txBody>
      </p:sp>
      <p:sp>
        <p:nvSpPr>
          <p:cNvPr id="4" name="card1"/>
          <p:cNvSpPr/>
          <p:nvPr/>
        </p:nvSpPr>
        <p:spPr>
          <a:xfrm>
            <a:off x="548640" y="1920240"/>
            <a:ext cx="3483864" cy="2743200"/>
          </a:xfrm>
          <a:prstGeom prst="roundRect">
            <a:avLst>
              <a:gd name="adj" fmla="val 4000"/>
            </a:avLst>
          </a:prstGeom>
          <a:solidFill>
            <a:schemeClr val="bg2"/>
          </a:solidFill>
          <a:ln w="9525">
            <a:solidFill>
              <a:schemeClr val="accent5"/>
            </a:solidFill>
            <a:prstDash val="solid"/>
          </a:ln>
        </p:spPr>
      </p:sp>
      <p:sp>
        <p:nvSpPr>
          <p:cNvPr id="5" name="Text 3"/>
          <p:cNvSpPr txBox="1"/>
          <p:nvPr/>
        </p:nvSpPr>
        <p:spPr>
          <a:xfrm>
            <a:off x="777240" y="2148840"/>
            <a:ext cx="3026664" cy="822960"/>
          </a:xfrm>
          <a:prstGeom prst="rect">
            <a:avLst/>
          </a:prstGeom>
          <a:noFill/>
          <a:ln/>
        </p:spPr>
        <p:txBody>
          <a:bodyPr wrap="square" lIns="0" tIns="0" rIns="0" bIns="0" rtlCol="0" anchor="ctr"/>
          <a:lstStyle/>
          <a:p>
            <a:pPr indent="0" marL="0">
              <a:buNone/>
            </a:pPr>
            <a:r>
              <a:rPr lang="en-US" sz="4800" b="1" dirty="0">
                <a:solidFill>
                  <a:schemeClr val="accent1"/>
                </a:solidFill>
                <a:latin typeface="Cambria" pitchFamily="34" charset="0"/>
                <a:ea typeface="Cambria" pitchFamily="34" charset="-122"/>
                <a:cs typeface="Cambria" pitchFamily="34" charset="-120"/>
              </a:rPr>
              <a:t>2–4%</a:t>
            </a:r>
            <a:endParaRPr lang="en-US" sz="4800" dirty="0"/>
          </a:p>
        </p:txBody>
      </p:sp>
      <p:sp>
        <p:nvSpPr>
          <p:cNvPr id="6" name="Text 4"/>
          <p:cNvSpPr txBox="1"/>
          <p:nvPr/>
        </p:nvSpPr>
        <p:spPr>
          <a:xfrm>
            <a:off x="777240" y="3063240"/>
            <a:ext cx="3026664" cy="685800"/>
          </a:xfrm>
          <a:prstGeom prst="rect">
            <a:avLst/>
          </a:prstGeom>
          <a:noFill/>
          <a:ln/>
        </p:spPr>
        <p:txBody>
          <a:bodyPr wrap="square" lIns="0" tIns="0" rIns="0" bIns="0" rtlCol="0" anchor="t"/>
          <a:lstStyle/>
          <a:p>
            <a:pPr indent="0" marL="0">
              <a:buNone/>
            </a:pPr>
            <a:r>
              <a:rPr lang="en-US" sz="1800" b="1" dirty="0">
                <a:solidFill>
                  <a:schemeClr val="tx1"/>
                </a:solidFill>
              </a:rPr>
              <a:t>of sales lost to stock-outs</a:t>
            </a:r>
            <a:endParaRPr lang="en-US" sz="1800" dirty="0"/>
          </a:p>
        </p:txBody>
      </p:sp>
      <p:sp>
        <p:nvSpPr>
          <p:cNvPr id="7" name="Text 5"/>
          <p:cNvSpPr txBox="1"/>
          <p:nvPr/>
        </p:nvSpPr>
        <p:spPr>
          <a:xfrm>
            <a:off x="777240" y="3794760"/>
            <a:ext cx="3026664" cy="685800"/>
          </a:xfrm>
          <a:prstGeom prst="rect">
            <a:avLst/>
          </a:prstGeom>
          <a:noFill/>
          <a:ln/>
        </p:spPr>
        <p:txBody>
          <a:bodyPr wrap="square" lIns="0" tIns="0" rIns="0" bIns="0" rtlCol="0" anchor="t"/>
          <a:lstStyle/>
          <a:p>
            <a:pPr indent="0" marL="0">
              <a:buNone/>
            </a:pPr>
            <a:r>
              <a:rPr lang="en-US" sz="1400" dirty="0">
                <a:solidFill>
                  <a:schemeClr val="accent4"/>
                </a:solidFill>
              </a:rPr>
              <a:t>Concentrated in a handful of stores and fast movers, so it's fixable.</a:t>
            </a:r>
            <a:endParaRPr lang="en-US" sz="1400" dirty="0"/>
          </a:p>
        </p:txBody>
      </p:sp>
      <p:sp>
        <p:nvSpPr>
          <p:cNvPr id="8" name="card2"/>
          <p:cNvSpPr/>
          <p:nvPr/>
        </p:nvSpPr>
        <p:spPr>
          <a:xfrm>
            <a:off x="4352544" y="1920240"/>
            <a:ext cx="3483864" cy="2743200"/>
          </a:xfrm>
          <a:prstGeom prst="roundRect">
            <a:avLst>
              <a:gd name="adj" fmla="val 4000"/>
            </a:avLst>
          </a:prstGeom>
          <a:solidFill>
            <a:schemeClr val="bg2"/>
          </a:solidFill>
          <a:ln w="9525">
            <a:solidFill>
              <a:schemeClr val="accent5"/>
            </a:solidFill>
            <a:prstDash val="solid"/>
          </a:ln>
        </p:spPr>
      </p:sp>
      <p:sp>
        <p:nvSpPr>
          <p:cNvPr id="9" name="Text 7"/>
          <p:cNvSpPr txBox="1"/>
          <p:nvPr/>
        </p:nvSpPr>
        <p:spPr>
          <a:xfrm>
            <a:off x="4581144" y="2148840"/>
            <a:ext cx="3026664" cy="822960"/>
          </a:xfrm>
          <a:prstGeom prst="rect">
            <a:avLst/>
          </a:prstGeom>
          <a:noFill/>
          <a:ln/>
        </p:spPr>
        <p:txBody>
          <a:bodyPr wrap="square" lIns="0" tIns="0" rIns="0" bIns="0" rtlCol="0" anchor="ctr"/>
          <a:lstStyle/>
          <a:p>
            <a:pPr indent="0" marL="0">
              <a:buNone/>
            </a:pPr>
            <a:r>
              <a:rPr lang="en-US" sz="4800" b="1" dirty="0">
                <a:solidFill>
                  <a:schemeClr val="accent1"/>
                </a:solidFill>
                <a:latin typeface="Cambria" pitchFamily="34" charset="0"/>
                <a:ea typeface="Cambria" pitchFamily="34" charset="-122"/>
                <a:cs typeface="Cambria" pitchFamily="34" charset="-120"/>
              </a:rPr>
              <a:t>10–15%</a:t>
            </a:r>
            <a:endParaRPr lang="en-US" sz="4800" dirty="0"/>
          </a:p>
        </p:txBody>
      </p:sp>
      <p:sp>
        <p:nvSpPr>
          <p:cNvPr id="10" name="Text 8"/>
          <p:cNvSpPr txBox="1"/>
          <p:nvPr/>
        </p:nvSpPr>
        <p:spPr>
          <a:xfrm>
            <a:off x="4581144" y="3063240"/>
            <a:ext cx="3026664" cy="685800"/>
          </a:xfrm>
          <a:prstGeom prst="rect">
            <a:avLst/>
          </a:prstGeom>
          <a:noFill/>
          <a:ln/>
        </p:spPr>
        <p:txBody>
          <a:bodyPr wrap="square" lIns="0" tIns="0" rIns="0" bIns="0" rtlCol="0" anchor="t"/>
          <a:lstStyle/>
          <a:p>
            <a:pPr indent="0" marL="0">
              <a:buNone/>
            </a:pPr>
            <a:r>
              <a:rPr lang="en-US" sz="1800" b="1" dirty="0">
                <a:solidFill>
                  <a:schemeClr val="tx1"/>
                </a:solidFill>
              </a:rPr>
              <a:t>of full-price value given away in markdowns</a:t>
            </a:r>
            <a:endParaRPr lang="en-US" sz="1800" dirty="0"/>
          </a:p>
        </p:txBody>
      </p:sp>
      <p:sp>
        <p:nvSpPr>
          <p:cNvPr id="11" name="Text 9"/>
          <p:cNvSpPr txBox="1"/>
          <p:nvPr/>
        </p:nvSpPr>
        <p:spPr>
          <a:xfrm>
            <a:off x="4581144" y="3794760"/>
            <a:ext cx="3026664" cy="685800"/>
          </a:xfrm>
          <a:prstGeom prst="rect">
            <a:avLst/>
          </a:prstGeom>
          <a:noFill/>
          <a:ln/>
        </p:spPr>
        <p:txBody>
          <a:bodyPr wrap="square" lIns="0" tIns="0" rIns="0" bIns="0" rtlCol="0" anchor="t"/>
          <a:lstStyle/>
          <a:p>
            <a:pPr indent="0" marL="0">
              <a:buNone/>
            </a:pPr>
            <a:r>
              <a:rPr lang="en-US" sz="1400" dirty="0">
                <a:solidFill>
                  <a:schemeClr val="accent4"/>
                </a:solidFill>
              </a:rPr>
              <a:t>Typical for European mid-market fashion. Late, reactive clearance is the costliest kind.</a:t>
            </a:r>
            <a:endParaRPr lang="en-US" sz="1400" dirty="0"/>
          </a:p>
        </p:txBody>
      </p:sp>
      <p:sp>
        <p:nvSpPr>
          <p:cNvPr id="12" name="card3"/>
          <p:cNvSpPr/>
          <p:nvPr/>
        </p:nvSpPr>
        <p:spPr>
          <a:xfrm>
            <a:off x="8156448" y="1920240"/>
            <a:ext cx="3483864" cy="2743200"/>
          </a:xfrm>
          <a:prstGeom prst="roundRect">
            <a:avLst>
              <a:gd name="adj" fmla="val 4000"/>
            </a:avLst>
          </a:prstGeom>
          <a:solidFill>
            <a:schemeClr val="bg2"/>
          </a:solidFill>
          <a:ln w="9525">
            <a:solidFill>
              <a:schemeClr val="accent5"/>
            </a:solidFill>
            <a:prstDash val="solid"/>
          </a:ln>
        </p:spPr>
      </p:sp>
      <p:sp>
        <p:nvSpPr>
          <p:cNvPr id="13" name="Text 11"/>
          <p:cNvSpPr txBox="1"/>
          <p:nvPr/>
        </p:nvSpPr>
        <p:spPr>
          <a:xfrm>
            <a:off x="8385048" y="2148840"/>
            <a:ext cx="3026664" cy="822960"/>
          </a:xfrm>
          <a:prstGeom prst="rect">
            <a:avLst/>
          </a:prstGeom>
          <a:noFill/>
          <a:ln/>
        </p:spPr>
        <p:txBody>
          <a:bodyPr wrap="square" lIns="0" tIns="0" rIns="0" bIns="0" rtlCol="0" anchor="ctr"/>
          <a:lstStyle/>
          <a:p>
            <a:pPr indent="0" marL="0">
              <a:buNone/>
            </a:pPr>
            <a:r>
              <a:rPr lang="en-US" sz="4800" b="1" dirty="0">
                <a:solidFill>
                  <a:schemeClr val="accent1"/>
                </a:solidFill>
                <a:latin typeface="Cambria" pitchFamily="34" charset="0"/>
                <a:ea typeface="Cambria" pitchFamily="34" charset="-122"/>
                <a:cs typeface="Cambria" pitchFamily="34" charset="-120"/>
              </a:rPr>
              <a:t>~3×</a:t>
            </a:r>
            <a:endParaRPr lang="en-US" sz="4800" dirty="0"/>
          </a:p>
        </p:txBody>
      </p:sp>
      <p:sp>
        <p:nvSpPr>
          <p:cNvPr id="14" name="Text 12"/>
          <p:cNvSpPr txBox="1"/>
          <p:nvPr/>
        </p:nvSpPr>
        <p:spPr>
          <a:xfrm>
            <a:off x="8385048" y="3063240"/>
            <a:ext cx="3026664" cy="685800"/>
          </a:xfrm>
          <a:prstGeom prst="rect">
            <a:avLst/>
          </a:prstGeom>
          <a:noFill/>
          <a:ln/>
        </p:spPr>
        <p:txBody>
          <a:bodyPr wrap="square" lIns="0" tIns="0" rIns="0" bIns="0" rtlCol="0" anchor="t"/>
          <a:lstStyle/>
          <a:p>
            <a:pPr indent="0" marL="0">
              <a:buNone/>
            </a:pPr>
            <a:r>
              <a:rPr lang="en-US" sz="1800" b="1" dirty="0">
                <a:solidFill>
                  <a:schemeClr val="tx1"/>
                </a:solidFill>
              </a:rPr>
              <a:t>spend from omnichannel members</a:t>
            </a:r>
            <a:endParaRPr lang="en-US" sz="1800" dirty="0"/>
          </a:p>
        </p:txBody>
      </p:sp>
      <p:sp>
        <p:nvSpPr>
          <p:cNvPr id="15" name="Text 13"/>
          <p:cNvSpPr txBox="1"/>
          <p:nvPr/>
        </p:nvSpPr>
        <p:spPr>
          <a:xfrm>
            <a:off x="8385048" y="3794760"/>
            <a:ext cx="3026664" cy="685800"/>
          </a:xfrm>
          <a:prstGeom prst="rect">
            <a:avLst/>
          </a:prstGeom>
          <a:noFill/>
          <a:ln/>
        </p:spPr>
        <p:txBody>
          <a:bodyPr wrap="square" lIns="0" tIns="0" rIns="0" bIns="0" rtlCol="0" anchor="t"/>
          <a:lstStyle/>
          <a:p>
            <a:pPr indent="0" marL="0">
              <a:buNone/>
            </a:pPr>
            <a:r>
              <a:rPr lang="en-US" sz="1400" dirty="0">
                <a:solidFill>
                  <a:schemeClr val="accent4"/>
                </a:solidFill>
              </a:rPr>
              <a:t>Today you can't see them, so you can't grow them.</a:t>
            </a:r>
            <a:endParaRPr lang="en-US" sz="1400" dirty="0"/>
          </a:p>
        </p:txBody>
      </p:sp>
      <p:sp>
        <p:nvSpPr>
          <p:cNvPr id="16" name="Text 14"/>
          <p:cNvSpPr txBox="1"/>
          <p:nvPr/>
        </p:nvSpPr>
        <p:spPr>
          <a:xfrm>
            <a:off x="548640" y="5029200"/>
            <a:ext cx="11091672" cy="685800"/>
          </a:xfrm>
          <a:prstGeom prst="rect">
            <a:avLst/>
          </a:prstGeom>
          <a:noFill/>
          <a:ln/>
        </p:spPr>
        <p:txBody>
          <a:bodyPr wrap="square" lIns="0" tIns="0" rIns="0" bIns="0" rtlCol="0" anchor="t"/>
          <a:lstStyle/>
          <a:p>
            <a:pPr indent="0" marL="0">
              <a:buNone/>
            </a:pPr>
            <a:r>
              <a:rPr lang="en-US" sz="1600" dirty="0">
                <a:solidFill>
                  <a:schemeClr val="tx1"/>
                </a:solidFill>
              </a:rPr>
              <a:t>At around €400M revenue: </a:t>
            </a:r>
            <a:pPr indent="0" marL="0">
              <a:buNone/>
            </a:pPr>
            <a:r>
              <a:rPr lang="en-US" sz="1600" b="1" dirty="0">
                <a:solidFill>
                  <a:schemeClr val="accent1"/>
                </a:solidFill>
              </a:rPr>
              <a:t>€4–7M gross margin a year</a:t>
            </a:r>
            <a:pPr indent="0" marL="0">
              <a:buNone/>
            </a:pPr>
            <a:r>
              <a:rPr lang="en-US" sz="1600" dirty="0">
                <a:solidFill>
                  <a:schemeClr val="accent4"/>
                </a:solidFill>
              </a:rPr>
              <a:t> from recovering a third of stock-out loss and cutting markdowns 10–15%. A hypothesis we validate on your data in 6 weeks.</a:t>
            </a:r>
            <a:endParaRPr lang="en-US" sz="16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1091672" cy="365760"/>
          </a:xfrm>
          <a:prstGeom prst="rect">
            <a:avLst/>
          </a:prstGeom>
          <a:noFill/>
          <a:ln/>
        </p:spPr>
        <p:txBody>
          <a:bodyPr wrap="square" rtlCol="0"/>
          <a:lstStyle/>
          <a:p>
            <a:pPr indent="0" marL="0">
              <a:buNone/>
            </a:pPr>
            <a:r>
              <a:rPr lang="en-US" sz="1200" b="1" spc="200" kern="0" dirty="0">
                <a:solidFill>
                  <a:schemeClr val="accent1"/>
                </a:solidFill>
              </a:rPr>
              <a:t>03 · WHAT SUCCESS LOOKS LIKE, IN YOUR METRICS</a:t>
            </a:r>
            <a:endParaRPr lang="en-US" sz="1200" dirty="0"/>
          </a:p>
        </p:txBody>
      </p:sp>
      <p:sp>
        <p:nvSpPr>
          <p:cNvPr id="3" name="Text 0"/>
          <p:cNvSpPr/>
          <p:nvPr>
            <p:ph idx="101" type="title" hasCustomPrompt="1"/>
          </p:nvPr>
        </p:nvSpPr>
        <p:spPr>
          <a:xfrm>
            <a:off x="548640" y="731520"/>
            <a:ext cx="11091672" cy="914400"/>
          </a:xfrm>
          <a:prstGeom prst="rect">
            <a:avLst/>
          </a:prstGeom>
          <a:noFill/>
          <a:ln/>
        </p:spPr>
        <p:txBody>
          <a:bodyPr wrap="square" rtlCol="0" anchor="t"/>
          <a:lstStyle/>
          <a:p>
            <a:pPr algn="l" indent="0" marL="0">
              <a:buNone/>
            </a:pPr>
            <a:r>
              <a:rPr lang="en-US" sz="3400" b="1" dirty="0">
                <a:solidFill>
                  <a:schemeClr val="tx1"/>
                </a:solidFill>
              </a:rPr>
              <a:t>We agree on the scoreboard before we build anything</a:t>
            </a:r>
            <a:endParaRPr lang="en-US" sz="3400" dirty="0"/>
          </a:p>
        </p:txBody>
      </p:sp>
      <p:sp>
        <p:nvSpPr>
          <p:cNvPr id="4" name="card1"/>
          <p:cNvSpPr/>
          <p:nvPr/>
        </p:nvSpPr>
        <p:spPr>
          <a:xfrm>
            <a:off x="548640" y="1920240"/>
            <a:ext cx="3483864" cy="3017520"/>
          </a:xfrm>
          <a:prstGeom prst="roundRect">
            <a:avLst>
              <a:gd name="adj" fmla="val 3636"/>
            </a:avLst>
          </a:prstGeom>
          <a:solidFill>
            <a:schemeClr val="bg2"/>
          </a:solidFill>
          <a:ln w="9525">
            <a:solidFill>
              <a:schemeClr val="accent5"/>
            </a:solidFill>
            <a:prstDash val="solid"/>
          </a:ln>
        </p:spPr>
      </p:sp>
      <p:sp>
        <p:nvSpPr>
          <p:cNvPr id="5" name="Text 3"/>
          <p:cNvSpPr txBox="1"/>
          <p:nvPr/>
        </p:nvSpPr>
        <p:spPr>
          <a:xfrm>
            <a:off x="777240" y="2148840"/>
            <a:ext cx="3026664" cy="292608"/>
          </a:xfrm>
          <a:prstGeom prst="rect">
            <a:avLst/>
          </a:prstGeom>
          <a:noFill/>
          <a:ln/>
        </p:spPr>
        <p:txBody>
          <a:bodyPr wrap="square" lIns="0" tIns="0" rIns="0" bIns="0" rtlCol="0" anchor="ctr"/>
          <a:lstStyle/>
          <a:p>
            <a:pPr indent="0" marL="0">
              <a:buNone/>
            </a:pPr>
            <a:r>
              <a:rPr lang="en-US" sz="1100" b="1" dirty="0">
                <a:solidFill>
                  <a:schemeClr val="accent1"/>
                </a:solidFill>
              </a:rPr>
              <a:t>HEAD OF MERCHANDISING &amp; SUPPLY</a:t>
            </a:r>
            <a:endParaRPr lang="en-US" sz="1100" dirty="0"/>
          </a:p>
        </p:txBody>
      </p:sp>
      <p:sp>
        <p:nvSpPr>
          <p:cNvPr id="6" name="Text 4"/>
          <p:cNvSpPr txBox="1"/>
          <p:nvPr/>
        </p:nvSpPr>
        <p:spPr>
          <a:xfrm>
            <a:off x="777240" y="2514600"/>
            <a:ext cx="3026664" cy="685800"/>
          </a:xfrm>
          <a:prstGeom prst="rect">
            <a:avLst/>
          </a:prstGeom>
          <a:noFill/>
          <a:ln/>
        </p:spPr>
        <p:txBody>
          <a:bodyPr wrap="square" lIns="0" tIns="0" rIns="0" bIns="0" rtlCol="0" anchor="t"/>
          <a:lstStyle/>
          <a:p>
            <a:pPr indent="0" marL="0">
              <a:buNone/>
            </a:pPr>
            <a:r>
              <a:rPr lang="en-US" sz="1800" b="1" dirty="0">
                <a:solidFill>
                  <a:schemeClr val="tx1"/>
                </a:solidFill>
              </a:rPr>
              <a:t>Stock-outs on top 200 SKUs down 30%</a:t>
            </a:r>
            <a:endParaRPr lang="en-US" sz="1800" dirty="0"/>
          </a:p>
        </p:txBody>
      </p:sp>
      <p:sp>
        <p:nvSpPr>
          <p:cNvPr id="7" name="Text 5"/>
          <p:cNvSpPr txBox="1"/>
          <p:nvPr/>
        </p:nvSpPr>
        <p:spPr>
          <a:xfrm>
            <a:off x="777240" y="3246120"/>
            <a:ext cx="3026664" cy="15087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accent4"/>
                </a:solidFill>
              </a:rPr>
              <a:t>On-shelf availability up</a:t>
            </a:r>
            <a:endParaRPr lang="en-US" sz="1400" dirty="0"/>
          </a:p>
          <a:p>
            <a:pPr marL="342900" indent="-342900">
              <a:spcAft>
                <a:spcPts val="400"/>
              </a:spcAft>
              <a:buSzPct val="100000"/>
              <a:buChar char="•"/>
            </a:pPr>
            <a:r>
              <a:rPr lang="en-US" sz="1400" dirty="0">
                <a:solidFill>
                  <a:schemeClr val="accent4"/>
                </a:solidFill>
              </a:rPr>
              <a:t>Forecast accuracy (WAPE) by category and store</a:t>
            </a:r>
            <a:endParaRPr lang="en-US" sz="1400" dirty="0"/>
          </a:p>
          <a:p>
            <a:pPr marL="342900" indent="-342900">
              <a:spcAft>
                <a:spcPts val="400"/>
              </a:spcAft>
              <a:buSzPct val="100000"/>
              <a:buChar char="•"/>
            </a:pPr>
            <a:r>
              <a:rPr lang="en-US" sz="1400" dirty="0">
                <a:solidFill>
                  <a:schemeClr val="accent4"/>
                </a:solidFill>
              </a:rPr>
              <a:t>Full-price sell-through up</a:t>
            </a:r>
            <a:endParaRPr lang="en-US" sz="1400" dirty="0"/>
          </a:p>
        </p:txBody>
      </p:sp>
      <p:sp>
        <p:nvSpPr>
          <p:cNvPr id="8" name="card2"/>
          <p:cNvSpPr/>
          <p:nvPr/>
        </p:nvSpPr>
        <p:spPr>
          <a:xfrm>
            <a:off x="4352544" y="1920240"/>
            <a:ext cx="3483864" cy="3017520"/>
          </a:xfrm>
          <a:prstGeom prst="roundRect">
            <a:avLst>
              <a:gd name="adj" fmla="val 3636"/>
            </a:avLst>
          </a:prstGeom>
          <a:solidFill>
            <a:schemeClr val="bg2"/>
          </a:solidFill>
          <a:ln w="9525">
            <a:solidFill>
              <a:schemeClr val="accent5"/>
            </a:solidFill>
            <a:prstDash val="solid"/>
          </a:ln>
        </p:spPr>
      </p:sp>
      <p:sp>
        <p:nvSpPr>
          <p:cNvPr id="9" name="Text 7"/>
          <p:cNvSpPr txBox="1"/>
          <p:nvPr/>
        </p:nvSpPr>
        <p:spPr>
          <a:xfrm>
            <a:off x="4581144" y="2148840"/>
            <a:ext cx="3026664" cy="292608"/>
          </a:xfrm>
          <a:prstGeom prst="rect">
            <a:avLst/>
          </a:prstGeom>
          <a:noFill/>
          <a:ln/>
        </p:spPr>
        <p:txBody>
          <a:bodyPr wrap="square" lIns="0" tIns="0" rIns="0" bIns="0" rtlCol="0" anchor="ctr"/>
          <a:lstStyle/>
          <a:p>
            <a:pPr indent="0" marL="0">
              <a:buNone/>
            </a:pPr>
            <a:r>
              <a:rPr lang="en-US" sz="1100" b="1" dirty="0">
                <a:solidFill>
                  <a:schemeClr val="accent1"/>
                </a:solidFill>
              </a:rPr>
              <a:t>CFO / COMMERCIAL DIRECTOR</a:t>
            </a:r>
            <a:endParaRPr lang="en-US" sz="1100" dirty="0"/>
          </a:p>
        </p:txBody>
      </p:sp>
      <p:sp>
        <p:nvSpPr>
          <p:cNvPr id="10" name="Text 8"/>
          <p:cNvSpPr txBox="1"/>
          <p:nvPr/>
        </p:nvSpPr>
        <p:spPr>
          <a:xfrm>
            <a:off x="4581144" y="2514600"/>
            <a:ext cx="3026664" cy="685800"/>
          </a:xfrm>
          <a:prstGeom prst="rect">
            <a:avLst/>
          </a:prstGeom>
          <a:noFill/>
          <a:ln/>
        </p:spPr>
        <p:txBody>
          <a:bodyPr wrap="square" lIns="0" tIns="0" rIns="0" bIns="0" rtlCol="0" anchor="t"/>
          <a:lstStyle/>
          <a:p>
            <a:pPr indent="0" marL="0">
              <a:buNone/>
            </a:pPr>
            <a:r>
              <a:rPr lang="en-US" sz="1800" b="1" dirty="0">
                <a:solidFill>
                  <a:schemeClr val="tx1"/>
                </a:solidFill>
              </a:rPr>
              <a:t>Markdown spend down 10–15%</a:t>
            </a:r>
            <a:endParaRPr lang="en-US" sz="1800" dirty="0"/>
          </a:p>
        </p:txBody>
      </p:sp>
      <p:sp>
        <p:nvSpPr>
          <p:cNvPr id="11" name="Text 9"/>
          <p:cNvSpPr txBox="1"/>
          <p:nvPr/>
        </p:nvSpPr>
        <p:spPr>
          <a:xfrm>
            <a:off x="4581144" y="3246120"/>
            <a:ext cx="3026664" cy="15087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accent4"/>
                </a:solidFill>
              </a:rPr>
              <a:t>Gross margin up 50–100 bps</a:t>
            </a:r>
            <a:endParaRPr lang="en-US" sz="1400" dirty="0"/>
          </a:p>
          <a:p>
            <a:pPr marL="342900" indent="-342900">
              <a:spcAft>
                <a:spcPts val="400"/>
              </a:spcAft>
              <a:buSzPct val="100000"/>
              <a:buChar char="•"/>
            </a:pPr>
            <a:r>
              <a:rPr lang="en-US" sz="1400" dirty="0">
                <a:solidFill>
                  <a:schemeClr val="accent4"/>
                </a:solidFill>
              </a:rPr>
              <a:t>Value shown in weeks</a:t>
            </a:r>
            <a:endParaRPr lang="en-US" sz="1400" dirty="0"/>
          </a:p>
          <a:p>
            <a:pPr marL="342900" indent="-342900">
              <a:spcAft>
                <a:spcPts val="400"/>
              </a:spcAft>
              <a:buSzPct val="100000"/>
              <a:buChar char="•"/>
            </a:pPr>
            <a:r>
              <a:rPr lang="en-US" sz="1400" dirty="0">
                <a:solidFill>
                  <a:schemeClr val="accent4"/>
                </a:solidFill>
              </a:rPr>
              <a:t>Fixed pilot cost, no multi-year commitment</a:t>
            </a:r>
            <a:endParaRPr lang="en-US" sz="1400" dirty="0"/>
          </a:p>
        </p:txBody>
      </p:sp>
      <p:sp>
        <p:nvSpPr>
          <p:cNvPr id="12" name="card3"/>
          <p:cNvSpPr/>
          <p:nvPr/>
        </p:nvSpPr>
        <p:spPr>
          <a:xfrm>
            <a:off x="8156448" y="1920240"/>
            <a:ext cx="3483864" cy="3017520"/>
          </a:xfrm>
          <a:prstGeom prst="roundRect">
            <a:avLst>
              <a:gd name="adj" fmla="val 3636"/>
            </a:avLst>
          </a:prstGeom>
          <a:solidFill>
            <a:schemeClr val="bg2"/>
          </a:solidFill>
          <a:ln w="9525">
            <a:solidFill>
              <a:schemeClr val="accent5"/>
            </a:solidFill>
            <a:prstDash val="solid"/>
          </a:ln>
        </p:spPr>
      </p:sp>
      <p:sp>
        <p:nvSpPr>
          <p:cNvPr id="13" name="Text 11"/>
          <p:cNvSpPr txBox="1"/>
          <p:nvPr/>
        </p:nvSpPr>
        <p:spPr>
          <a:xfrm>
            <a:off x="8385048" y="2148840"/>
            <a:ext cx="3026664" cy="292608"/>
          </a:xfrm>
          <a:prstGeom prst="rect">
            <a:avLst/>
          </a:prstGeom>
          <a:noFill/>
          <a:ln/>
        </p:spPr>
        <p:txBody>
          <a:bodyPr wrap="square" lIns="0" tIns="0" rIns="0" bIns="0" rtlCol="0" anchor="ctr"/>
          <a:lstStyle/>
          <a:p>
            <a:pPr indent="0" marL="0">
              <a:buNone/>
            </a:pPr>
            <a:r>
              <a:rPr lang="en-US" sz="1100" b="1" dirty="0">
                <a:solidFill>
                  <a:schemeClr val="accent1"/>
                </a:solidFill>
              </a:rPr>
              <a:t>VP RETAIL OPS &amp; DATA</a:t>
            </a:r>
            <a:endParaRPr lang="en-US" sz="1100" dirty="0"/>
          </a:p>
        </p:txBody>
      </p:sp>
      <p:sp>
        <p:nvSpPr>
          <p:cNvPr id="14" name="Text 12"/>
          <p:cNvSpPr txBox="1"/>
          <p:nvPr/>
        </p:nvSpPr>
        <p:spPr>
          <a:xfrm>
            <a:off x="8385048" y="2514600"/>
            <a:ext cx="3026664" cy="685800"/>
          </a:xfrm>
          <a:prstGeom prst="rect">
            <a:avLst/>
          </a:prstGeom>
          <a:noFill/>
          <a:ln/>
        </p:spPr>
        <p:txBody>
          <a:bodyPr wrap="square" lIns="0" tIns="0" rIns="0" bIns="0" rtlCol="0" anchor="t"/>
          <a:lstStyle/>
          <a:p>
            <a:pPr indent="0" marL="0">
              <a:buNone/>
            </a:pPr>
            <a:r>
              <a:rPr lang="en-US" sz="1800" b="1" dirty="0">
                <a:solidFill>
                  <a:schemeClr val="tx1"/>
                </a:solidFill>
              </a:rPr>
              <a:t>One customer and stock view, daily</a:t>
            </a:r>
            <a:endParaRPr lang="en-US" sz="1800" dirty="0"/>
          </a:p>
        </p:txBody>
      </p:sp>
      <p:sp>
        <p:nvSpPr>
          <p:cNvPr id="15" name="Text 13"/>
          <p:cNvSpPr txBox="1"/>
          <p:nvPr/>
        </p:nvSpPr>
        <p:spPr>
          <a:xfrm>
            <a:off x="8385048" y="3246120"/>
            <a:ext cx="3026664" cy="15087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accent4"/>
                </a:solidFill>
              </a:rPr>
              <a:t>Self-serve answers in minutes, not backlog tickets</a:t>
            </a:r>
            <a:endParaRPr lang="en-US" sz="1400" dirty="0"/>
          </a:p>
          <a:p>
            <a:pPr marL="342900" indent="-342900">
              <a:spcAft>
                <a:spcPts val="400"/>
              </a:spcAft>
              <a:buSzPct val="100000"/>
              <a:buChar char="•"/>
            </a:pPr>
            <a:r>
              <a:rPr lang="en-US" sz="1400" dirty="0">
                <a:solidFill>
                  <a:schemeClr val="accent4"/>
                </a:solidFill>
              </a:rPr>
              <a:t>Run by a team of 3–4</a:t>
            </a:r>
            <a:endParaRPr lang="en-US" sz="1400" dirty="0"/>
          </a:p>
          <a:p>
            <a:pPr marL="342900" indent="-342900">
              <a:spcAft>
                <a:spcPts val="400"/>
              </a:spcAft>
              <a:buSzPct val="100000"/>
              <a:buChar char="•"/>
            </a:pPr>
            <a:r>
              <a:rPr lang="en-US" sz="1400" dirty="0">
                <a:solidFill>
                  <a:schemeClr val="accent4"/>
                </a:solidFill>
              </a:rPr>
              <a:t>Open formats, no lock-in</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1091672" cy="365760"/>
          </a:xfrm>
          <a:prstGeom prst="rect">
            <a:avLst/>
          </a:prstGeom>
          <a:noFill/>
          <a:ln/>
        </p:spPr>
        <p:txBody>
          <a:bodyPr wrap="square" rtlCol="0"/>
          <a:lstStyle/>
          <a:p>
            <a:pPr indent="0" marL="0">
              <a:buNone/>
            </a:pPr>
            <a:r>
              <a:rPr lang="en-US" sz="1200" b="1" spc="200" kern="0" dirty="0">
                <a:solidFill>
                  <a:schemeClr val="accent1"/>
                </a:solidFill>
              </a:rPr>
              <a:t>04 · PROOF POINT, BUILT ON MULTIVAR-SHAPED DATA</a:t>
            </a:r>
            <a:endParaRPr lang="en-US" sz="1200" dirty="0"/>
          </a:p>
        </p:txBody>
      </p:sp>
      <p:sp>
        <p:nvSpPr>
          <p:cNvPr id="3" name="Text 0"/>
          <p:cNvSpPr/>
          <p:nvPr>
            <p:ph idx="101" type="title" hasCustomPrompt="1"/>
          </p:nvPr>
        </p:nvSpPr>
        <p:spPr>
          <a:xfrm>
            <a:off x="548640" y="731520"/>
            <a:ext cx="11091672" cy="914400"/>
          </a:xfrm>
          <a:prstGeom prst="rect">
            <a:avLst/>
          </a:prstGeom>
          <a:noFill/>
          <a:ln/>
        </p:spPr>
        <p:txBody>
          <a:bodyPr wrap="square" rtlCol="0" anchor="t"/>
          <a:lstStyle/>
          <a:p>
            <a:pPr algn="l" indent="0" marL="0">
              <a:buNone/>
            </a:pPr>
            <a:r>
              <a:rPr lang="en-US" sz="3400" b="1" dirty="0">
                <a:solidFill>
                  <a:schemeClr val="tx1"/>
                </a:solidFill>
              </a:rPr>
              <a:t>What one trusted platform looks like on day one</a:t>
            </a:r>
            <a:endParaRPr lang="en-US" sz="3400" dirty="0"/>
          </a:p>
        </p:txBody>
      </p:sp>
      <p:sp>
        <p:nvSpPr>
          <p:cNvPr id="4" name="card1"/>
          <p:cNvSpPr/>
          <p:nvPr/>
        </p:nvSpPr>
        <p:spPr>
          <a:xfrm>
            <a:off x="548640" y="1920240"/>
            <a:ext cx="3483864" cy="2651760"/>
          </a:xfrm>
          <a:prstGeom prst="roundRect">
            <a:avLst>
              <a:gd name="adj" fmla="val 4138"/>
            </a:avLst>
          </a:prstGeom>
          <a:solidFill>
            <a:schemeClr val="bg2"/>
          </a:solidFill>
          <a:ln w="9525">
            <a:solidFill>
              <a:schemeClr val="accent5"/>
            </a:solidFill>
            <a:prstDash val="solid"/>
          </a:ln>
        </p:spPr>
      </p:sp>
      <p:sp>
        <p:nvSpPr>
          <p:cNvPr id="5" name="Text 3"/>
          <p:cNvSpPr txBox="1"/>
          <p:nvPr/>
        </p:nvSpPr>
        <p:spPr>
          <a:xfrm>
            <a:off x="777240" y="2148840"/>
            <a:ext cx="3026664" cy="292608"/>
          </a:xfrm>
          <a:prstGeom prst="rect">
            <a:avLst/>
          </a:prstGeom>
          <a:noFill/>
          <a:ln/>
        </p:spPr>
        <p:txBody>
          <a:bodyPr wrap="square" lIns="0" tIns="0" rIns="0" bIns="0" rtlCol="0" anchor="ctr"/>
          <a:lstStyle/>
          <a:p>
            <a:pPr indent="0" marL="0">
              <a:buNone/>
            </a:pPr>
            <a:r>
              <a:rPr lang="en-US" sz="1100" b="1" dirty="0">
                <a:solidFill>
                  <a:schemeClr val="accent1"/>
                </a:solidFill>
              </a:rPr>
              <a:t>1 · FOUNDATION</a:t>
            </a:r>
            <a:endParaRPr lang="en-US" sz="1100" dirty="0"/>
          </a:p>
        </p:txBody>
      </p:sp>
      <p:sp>
        <p:nvSpPr>
          <p:cNvPr id="6" name="Text 4"/>
          <p:cNvSpPr txBox="1"/>
          <p:nvPr/>
        </p:nvSpPr>
        <p:spPr>
          <a:xfrm>
            <a:off x="777240" y="2514600"/>
            <a:ext cx="3026664" cy="685800"/>
          </a:xfrm>
          <a:prstGeom prst="rect">
            <a:avLst/>
          </a:prstGeom>
          <a:noFill/>
          <a:ln/>
        </p:spPr>
        <p:txBody>
          <a:bodyPr wrap="square" lIns="0" tIns="0" rIns="0" bIns="0" rtlCol="0" anchor="t"/>
          <a:lstStyle/>
          <a:p>
            <a:pPr indent="0" marL="0">
              <a:buNone/>
            </a:pPr>
            <a:r>
              <a:rPr lang="en-US" sz="1800" b="1" dirty="0">
                <a:solidFill>
                  <a:schemeClr val="tx1"/>
                </a:solidFill>
              </a:rPr>
              <a:t>One governed place for all data</a:t>
            </a:r>
            <a:endParaRPr lang="en-US" sz="1800" dirty="0"/>
          </a:p>
        </p:txBody>
      </p:sp>
      <p:sp>
        <p:nvSpPr>
          <p:cNvPr id="7" name="Text 5"/>
          <p:cNvSpPr txBox="1"/>
          <p:nvPr/>
        </p:nvSpPr>
        <p:spPr>
          <a:xfrm>
            <a:off x="777240" y="3246120"/>
            <a:ext cx="3026664" cy="1143000"/>
          </a:xfrm>
          <a:prstGeom prst="rect">
            <a:avLst/>
          </a:prstGeom>
          <a:noFill/>
          <a:ln/>
        </p:spPr>
        <p:txBody>
          <a:bodyPr wrap="square" lIns="0" tIns="0" rIns="0" bIns="0" rtlCol="0" anchor="t"/>
          <a:lstStyle/>
          <a:p>
            <a:pPr indent="0" marL="0">
              <a:buNone/>
            </a:pPr>
            <a:r>
              <a:rPr lang="en-US" sz="1400" dirty="0">
                <a:solidFill>
                  <a:schemeClr val="accent4"/>
                </a:solidFill>
              </a:rPr>
              <a:t>POS, online, inventory, loyalty, markdowns and products together. Online shoppers matched to their loyalty IDs.</a:t>
            </a:r>
            <a:endParaRPr lang="en-US" sz="1400" dirty="0"/>
          </a:p>
        </p:txBody>
      </p:sp>
      <p:sp>
        <p:nvSpPr>
          <p:cNvPr id="8" name="card2"/>
          <p:cNvSpPr/>
          <p:nvPr/>
        </p:nvSpPr>
        <p:spPr>
          <a:xfrm>
            <a:off x="4352544" y="1920240"/>
            <a:ext cx="3483864" cy="2651760"/>
          </a:xfrm>
          <a:prstGeom prst="roundRect">
            <a:avLst>
              <a:gd name="adj" fmla="val 4138"/>
            </a:avLst>
          </a:prstGeom>
          <a:solidFill>
            <a:schemeClr val="bg2"/>
          </a:solidFill>
          <a:ln w="9525">
            <a:solidFill>
              <a:schemeClr val="accent5"/>
            </a:solidFill>
            <a:prstDash val="solid"/>
          </a:ln>
        </p:spPr>
      </p:sp>
      <p:sp>
        <p:nvSpPr>
          <p:cNvPr id="9" name="Text 7"/>
          <p:cNvSpPr txBox="1"/>
          <p:nvPr/>
        </p:nvSpPr>
        <p:spPr>
          <a:xfrm>
            <a:off x="4581144" y="2148840"/>
            <a:ext cx="3026664" cy="292608"/>
          </a:xfrm>
          <a:prstGeom prst="rect">
            <a:avLst/>
          </a:prstGeom>
          <a:noFill/>
          <a:ln/>
        </p:spPr>
        <p:txBody>
          <a:bodyPr wrap="square" lIns="0" tIns="0" rIns="0" bIns="0" rtlCol="0" anchor="ctr"/>
          <a:lstStyle/>
          <a:p>
            <a:pPr indent="0" marL="0">
              <a:buNone/>
            </a:pPr>
            <a:r>
              <a:rPr lang="en-US" sz="1100" b="1" dirty="0">
                <a:solidFill>
                  <a:schemeClr val="accent1"/>
                </a:solidFill>
              </a:rPr>
              <a:t>2 · DASHBOARD</a:t>
            </a:r>
            <a:endParaRPr lang="en-US" sz="1100" dirty="0"/>
          </a:p>
        </p:txBody>
      </p:sp>
      <p:sp>
        <p:nvSpPr>
          <p:cNvPr id="10" name="Text 8"/>
          <p:cNvSpPr txBox="1"/>
          <p:nvPr/>
        </p:nvSpPr>
        <p:spPr>
          <a:xfrm>
            <a:off x="4581144" y="2514600"/>
            <a:ext cx="3026664" cy="685800"/>
          </a:xfrm>
          <a:prstGeom prst="rect">
            <a:avLst/>
          </a:prstGeom>
          <a:noFill/>
          <a:ln/>
        </p:spPr>
        <p:txBody>
          <a:bodyPr wrap="square" lIns="0" tIns="0" rIns="0" bIns="0" rtlCol="0" anchor="t"/>
          <a:lstStyle/>
          <a:p>
            <a:pPr indent="0" marL="0">
              <a:buNone/>
            </a:pPr>
            <a:r>
              <a:rPr lang="en-US" sz="1800" b="1" dirty="0">
                <a:solidFill>
                  <a:schemeClr val="tx1"/>
                </a:solidFill>
              </a:rPr>
              <a:t>Executive view of margin &amp; stock</a:t>
            </a:r>
            <a:endParaRPr lang="en-US" sz="1800" dirty="0"/>
          </a:p>
        </p:txBody>
      </p:sp>
      <p:sp>
        <p:nvSpPr>
          <p:cNvPr id="11" name="Text 9"/>
          <p:cNvSpPr txBox="1"/>
          <p:nvPr/>
        </p:nvSpPr>
        <p:spPr>
          <a:xfrm>
            <a:off x="4581144" y="3246120"/>
            <a:ext cx="3026664" cy="1143000"/>
          </a:xfrm>
          <a:prstGeom prst="rect">
            <a:avLst/>
          </a:prstGeom>
          <a:noFill/>
          <a:ln/>
        </p:spPr>
        <p:txBody>
          <a:bodyPr wrap="square" lIns="0" tIns="0" rIns="0" bIns="0" rtlCol="0" anchor="t"/>
          <a:lstStyle/>
          <a:p>
            <a:pPr indent="0" marL="0">
              <a:buNone/>
            </a:pPr>
            <a:r>
              <a:rPr lang="en-US" sz="1400" dirty="0">
                <a:solidFill>
                  <a:schemeClr val="accent4"/>
                </a:solidFill>
              </a:rPr>
              <a:t>Margin leakage, lost sales by store, a 12-week demand forecast, and this week's reorder list.</a:t>
            </a:r>
            <a:endParaRPr lang="en-US" sz="1400" dirty="0"/>
          </a:p>
        </p:txBody>
      </p:sp>
      <p:sp>
        <p:nvSpPr>
          <p:cNvPr id="12" name="card3"/>
          <p:cNvSpPr/>
          <p:nvPr/>
        </p:nvSpPr>
        <p:spPr>
          <a:xfrm>
            <a:off x="8156448" y="1920240"/>
            <a:ext cx="3483864" cy="2651760"/>
          </a:xfrm>
          <a:prstGeom prst="roundRect">
            <a:avLst>
              <a:gd name="adj" fmla="val 4138"/>
            </a:avLst>
          </a:prstGeom>
          <a:solidFill>
            <a:schemeClr val="bg2"/>
          </a:solidFill>
          <a:ln w="9525">
            <a:solidFill>
              <a:schemeClr val="accent5"/>
            </a:solidFill>
            <a:prstDash val="solid"/>
          </a:ln>
        </p:spPr>
      </p:sp>
      <p:sp>
        <p:nvSpPr>
          <p:cNvPr id="13" name="Text 11"/>
          <p:cNvSpPr txBox="1"/>
          <p:nvPr/>
        </p:nvSpPr>
        <p:spPr>
          <a:xfrm>
            <a:off x="8385048" y="2148840"/>
            <a:ext cx="3026664" cy="292608"/>
          </a:xfrm>
          <a:prstGeom prst="rect">
            <a:avLst/>
          </a:prstGeom>
          <a:noFill/>
          <a:ln/>
        </p:spPr>
        <p:txBody>
          <a:bodyPr wrap="square" lIns="0" tIns="0" rIns="0" bIns="0" rtlCol="0" anchor="ctr"/>
          <a:lstStyle/>
          <a:p>
            <a:pPr indent="0" marL="0">
              <a:buNone/>
            </a:pPr>
            <a:r>
              <a:rPr lang="en-US" sz="1100" b="1" dirty="0">
                <a:solidFill>
                  <a:schemeClr val="accent1"/>
                </a:solidFill>
              </a:rPr>
              <a:t>3 · GENIE</a:t>
            </a:r>
            <a:endParaRPr lang="en-US" sz="1100" dirty="0"/>
          </a:p>
        </p:txBody>
      </p:sp>
      <p:sp>
        <p:nvSpPr>
          <p:cNvPr id="14" name="Text 12"/>
          <p:cNvSpPr txBox="1"/>
          <p:nvPr/>
        </p:nvSpPr>
        <p:spPr>
          <a:xfrm>
            <a:off x="8385048" y="2514600"/>
            <a:ext cx="3026664" cy="685800"/>
          </a:xfrm>
          <a:prstGeom prst="rect">
            <a:avLst/>
          </a:prstGeom>
          <a:noFill/>
          <a:ln/>
        </p:spPr>
        <p:txBody>
          <a:bodyPr wrap="square" lIns="0" tIns="0" rIns="0" bIns="0" rtlCol="0" anchor="t"/>
          <a:lstStyle/>
          <a:p>
            <a:pPr indent="0" marL="0">
              <a:buNone/>
            </a:pPr>
            <a:r>
              <a:rPr lang="en-US" sz="1800" b="1" dirty="0">
                <a:solidFill>
                  <a:schemeClr val="tx1"/>
                </a:solidFill>
              </a:rPr>
              <a:t>Ask in plain language</a:t>
            </a:r>
            <a:endParaRPr lang="en-US" sz="1800" dirty="0"/>
          </a:p>
        </p:txBody>
      </p:sp>
      <p:sp>
        <p:nvSpPr>
          <p:cNvPr id="15" name="Text 13"/>
          <p:cNvSpPr txBox="1"/>
          <p:nvPr/>
        </p:nvSpPr>
        <p:spPr>
          <a:xfrm>
            <a:off x="8385048" y="3246120"/>
            <a:ext cx="3026664" cy="1143000"/>
          </a:xfrm>
          <a:prstGeom prst="rect">
            <a:avLst/>
          </a:prstGeom>
          <a:noFill/>
          <a:ln/>
        </p:spPr>
        <p:txBody>
          <a:bodyPr wrap="square" lIns="0" tIns="0" rIns="0" bIns="0" rtlCol="0" anchor="t"/>
          <a:lstStyle/>
          <a:p>
            <a:pPr indent="0" marL="0">
              <a:buNone/>
            </a:pPr>
            <a:r>
              <a:rPr lang="en-US" sz="1400" dirty="0">
                <a:solidFill>
                  <a:schemeClr val="accent4"/>
                </a:solidFill>
              </a:rPr>
              <a:t>"Which stores lost the most to stock-outs?" "What would a 20% markdown cut be worth?" Answers in seconds, with your definitions.</a:t>
            </a:r>
            <a:endParaRPr lang="en-US" sz="1400" dirty="0"/>
          </a:p>
        </p:txBody>
      </p:sp>
      <p:sp>
        <p:nvSpPr>
          <p:cNvPr id="16" name="Text 14"/>
          <p:cNvSpPr txBox="1"/>
          <p:nvPr/>
        </p:nvSpPr>
        <p:spPr>
          <a:xfrm>
            <a:off x="548640" y="4937760"/>
            <a:ext cx="11091672" cy="685800"/>
          </a:xfrm>
          <a:prstGeom prst="rect">
            <a:avLst/>
          </a:prstGeom>
          <a:noFill/>
          <a:ln/>
        </p:spPr>
        <p:txBody>
          <a:bodyPr wrap="square" lIns="0" tIns="0" rIns="0" bIns="0" rtlCol="0" anchor="t"/>
          <a:lstStyle/>
          <a:p>
            <a:pPr indent="0" marL="0">
              <a:buNone/>
            </a:pPr>
            <a:r>
              <a:rPr lang="en-US" sz="1600" b="1" dirty="0">
                <a:solidFill>
                  <a:schemeClr val="accent1"/>
                </a:solidFill>
              </a:rPr>
              <a:t>Live demo: </a:t>
            </a:r>
            <a:pPr indent="0" marL="0">
              <a:buNone/>
            </a:pPr>
            <a:r>
              <a:rPr lang="en-US" sz="1600" dirty="0">
                <a:solidFill>
                  <a:schemeClr val="tx1"/>
                </a:solidFill>
              </a:rPr>
              <a:t>5 minutes, one question each for Merchandising, Ops and Finance.</a:t>
            </a:r>
            <a:endParaRPr lang="en-US" sz="16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1091672" cy="365760"/>
          </a:xfrm>
          <a:prstGeom prst="rect">
            <a:avLst/>
          </a:prstGeom>
          <a:noFill/>
          <a:ln/>
        </p:spPr>
        <p:txBody>
          <a:bodyPr wrap="square" rtlCol="0"/>
          <a:lstStyle/>
          <a:p>
            <a:pPr indent="0" marL="0">
              <a:buNone/>
            </a:pPr>
            <a:r>
              <a:rPr lang="en-US" sz="1200" b="1" spc="200" kern="0" dirty="0">
                <a:solidFill>
                  <a:schemeClr val="accent1"/>
                </a:solidFill>
              </a:rPr>
              <a:t>05 · THE VISION</a:t>
            </a:r>
            <a:endParaRPr lang="en-US" sz="1200" dirty="0"/>
          </a:p>
        </p:txBody>
      </p:sp>
      <p:sp>
        <p:nvSpPr>
          <p:cNvPr id="3" name="Text 0"/>
          <p:cNvSpPr/>
          <p:nvPr>
            <p:ph idx="101" type="title" hasCustomPrompt="1"/>
          </p:nvPr>
        </p:nvSpPr>
        <p:spPr>
          <a:xfrm>
            <a:off x="548640" y="731520"/>
            <a:ext cx="11091672" cy="914400"/>
          </a:xfrm>
          <a:prstGeom prst="rect">
            <a:avLst/>
          </a:prstGeom>
          <a:noFill/>
          <a:ln/>
        </p:spPr>
        <p:txBody>
          <a:bodyPr wrap="square" rtlCol="0" anchor="t"/>
          <a:lstStyle/>
          <a:p>
            <a:pPr algn="l" indent="0" marL="0">
              <a:buNone/>
            </a:pPr>
            <a:r>
              <a:rPr lang="en-US" sz="3400" b="1" dirty="0">
                <a:solidFill>
                  <a:schemeClr val="tx1"/>
                </a:solidFill>
              </a:rPr>
              <a:t>From reporting the past to deciding next week</a:t>
            </a:r>
            <a:endParaRPr lang="en-US" sz="3400" dirty="0"/>
          </a:p>
        </p:txBody>
      </p:sp>
      <p:sp>
        <p:nvSpPr>
          <p:cNvPr id="4" name="step1"/>
          <p:cNvSpPr/>
          <p:nvPr/>
        </p:nvSpPr>
        <p:spPr>
          <a:xfrm>
            <a:off x="548640" y="1965960"/>
            <a:ext cx="822960" cy="822960"/>
          </a:xfrm>
          <a:prstGeom prst="ellipse">
            <a:avLst/>
          </a:prstGeom>
          <a:solidFill>
            <a:schemeClr val="accent1"/>
          </a:solidFill>
          <a:ln/>
        </p:spPr>
      </p:sp>
      <p:sp>
        <p:nvSpPr>
          <p:cNvPr id="5" name="Text 3"/>
          <p:cNvSpPr txBox="1"/>
          <p:nvPr/>
        </p:nvSpPr>
        <p:spPr>
          <a:xfrm>
            <a:off x="548640" y="1965960"/>
            <a:ext cx="822960" cy="822960"/>
          </a:xfrm>
          <a:prstGeom prst="rect">
            <a:avLst/>
          </a:prstGeom>
          <a:noFill/>
          <a:ln/>
        </p:spPr>
        <p:txBody>
          <a:bodyPr wrap="square" lIns="0" tIns="0" rIns="0" bIns="0" rtlCol="0" anchor="ctr"/>
          <a:lstStyle/>
          <a:p>
            <a:pPr algn="ctr" indent="0" marL="0">
              <a:buNone/>
            </a:pPr>
            <a:r>
              <a:rPr lang="en-US" sz="2800" b="1" dirty="0">
                <a:solidFill>
                  <a:schemeClr val="bg1"/>
                </a:solidFill>
              </a:rPr>
              <a:t>1</a:t>
            </a:r>
            <a:endParaRPr lang="en-US" sz="2800" dirty="0"/>
          </a:p>
        </p:txBody>
      </p:sp>
      <p:sp>
        <p:nvSpPr>
          <p:cNvPr id="6" name="Text 4"/>
          <p:cNvSpPr txBox="1"/>
          <p:nvPr/>
        </p:nvSpPr>
        <p:spPr>
          <a:xfrm>
            <a:off x="1554480" y="2011680"/>
            <a:ext cx="2286000" cy="320040"/>
          </a:xfrm>
          <a:prstGeom prst="rect">
            <a:avLst/>
          </a:prstGeom>
          <a:noFill/>
          <a:ln/>
        </p:spPr>
        <p:txBody>
          <a:bodyPr wrap="square" lIns="0" tIns="0" rIns="0" bIns="0" rtlCol="0" anchor="ctr"/>
          <a:lstStyle/>
          <a:p>
            <a:pPr indent="0" marL="0">
              <a:buNone/>
            </a:pPr>
            <a:r>
              <a:rPr lang="en-US" sz="1200" b="1" dirty="0">
                <a:solidFill>
                  <a:schemeClr val="accent1"/>
                </a:solidFill>
              </a:rPr>
              <a:t>SEE</a:t>
            </a:r>
            <a:endParaRPr lang="en-US" sz="1200" dirty="0"/>
          </a:p>
        </p:txBody>
      </p:sp>
      <p:sp>
        <p:nvSpPr>
          <p:cNvPr id="7" name="Text 5"/>
          <p:cNvSpPr txBox="1"/>
          <p:nvPr/>
        </p:nvSpPr>
        <p:spPr>
          <a:xfrm>
            <a:off x="1554480" y="2331720"/>
            <a:ext cx="2286000" cy="457200"/>
          </a:xfrm>
          <a:prstGeom prst="rect">
            <a:avLst/>
          </a:prstGeom>
          <a:noFill/>
          <a:ln/>
        </p:spPr>
        <p:txBody>
          <a:bodyPr wrap="square" lIns="0" tIns="0" rIns="0" bIns="0" rtlCol="0" anchor="ctr"/>
          <a:lstStyle/>
          <a:p>
            <a:pPr indent="0" marL="0">
              <a:buNone/>
            </a:pPr>
            <a:r>
              <a:rPr lang="en-US" sz="2000" b="1" dirty="0">
                <a:solidFill>
                  <a:schemeClr val="tx1"/>
                </a:solidFill>
              </a:rPr>
              <a:t>One truth</a:t>
            </a:r>
            <a:endParaRPr lang="en-US" sz="2000" dirty="0"/>
          </a:p>
        </p:txBody>
      </p:sp>
      <p:sp>
        <p:nvSpPr>
          <p:cNvPr id="8" name="Text 6"/>
          <p:cNvSpPr txBox="1"/>
          <p:nvPr/>
        </p:nvSpPr>
        <p:spPr>
          <a:xfrm>
            <a:off x="548640" y="3063240"/>
            <a:ext cx="3291840" cy="1463040"/>
          </a:xfrm>
          <a:prstGeom prst="rect">
            <a:avLst/>
          </a:prstGeom>
          <a:noFill/>
          <a:ln/>
        </p:spPr>
        <p:txBody>
          <a:bodyPr wrap="square" lIns="0" tIns="0" rIns="0" bIns="0" rtlCol="0" anchor="t"/>
          <a:lstStyle/>
          <a:p>
            <a:pPr indent="0" marL="0">
              <a:buNone/>
            </a:pPr>
            <a:r>
              <a:rPr lang="en-US" sz="1500" dirty="0">
                <a:solidFill>
                  <a:schemeClr val="accent4"/>
                </a:solidFill>
              </a:rPr>
              <a:t>Customer 360 and stock positions across 5 markets and both channels. Spreadsheets retired.</a:t>
            </a:r>
            <a:endParaRPr lang="en-US" sz="1500" dirty="0"/>
          </a:p>
        </p:txBody>
      </p:sp>
      <p:sp>
        <p:nvSpPr>
          <p:cNvPr id="9" name="Text 7"/>
          <p:cNvSpPr txBox="1"/>
          <p:nvPr/>
        </p:nvSpPr>
        <p:spPr>
          <a:xfrm>
            <a:off x="3840480" y="1965960"/>
            <a:ext cx="608076" cy="822960"/>
          </a:xfrm>
          <a:prstGeom prst="rect">
            <a:avLst/>
          </a:prstGeom>
          <a:noFill/>
          <a:ln/>
        </p:spPr>
        <p:txBody>
          <a:bodyPr wrap="square" lIns="0" tIns="0" rIns="0" bIns="0" rtlCol="0" anchor="ctr"/>
          <a:lstStyle/>
          <a:p>
            <a:pPr algn="ctr" indent="0" marL="0">
              <a:buNone/>
            </a:pPr>
            <a:r>
              <a:rPr lang="en-US" sz="3200" dirty="0">
                <a:solidFill>
                  <a:schemeClr val="accent5"/>
                </a:solidFill>
              </a:rPr>
              <a:t>→</a:t>
            </a:r>
            <a:endParaRPr lang="en-US" sz="3200" dirty="0"/>
          </a:p>
        </p:txBody>
      </p:sp>
      <p:sp>
        <p:nvSpPr>
          <p:cNvPr id="10" name="step2"/>
          <p:cNvSpPr/>
          <p:nvPr/>
        </p:nvSpPr>
        <p:spPr>
          <a:xfrm>
            <a:off x="4448556" y="1965960"/>
            <a:ext cx="822960" cy="822960"/>
          </a:xfrm>
          <a:prstGeom prst="ellipse">
            <a:avLst/>
          </a:prstGeom>
          <a:solidFill>
            <a:schemeClr val="accent2"/>
          </a:solidFill>
          <a:ln/>
        </p:spPr>
      </p:sp>
      <p:sp>
        <p:nvSpPr>
          <p:cNvPr id="11" name="Text 9"/>
          <p:cNvSpPr txBox="1"/>
          <p:nvPr/>
        </p:nvSpPr>
        <p:spPr>
          <a:xfrm>
            <a:off x="4448556" y="1965960"/>
            <a:ext cx="822960" cy="822960"/>
          </a:xfrm>
          <a:prstGeom prst="rect">
            <a:avLst/>
          </a:prstGeom>
          <a:noFill/>
          <a:ln/>
        </p:spPr>
        <p:txBody>
          <a:bodyPr wrap="square" lIns="0" tIns="0" rIns="0" bIns="0" rtlCol="0" anchor="ctr"/>
          <a:lstStyle/>
          <a:p>
            <a:pPr algn="ctr" indent="0" marL="0">
              <a:buNone/>
            </a:pPr>
            <a:r>
              <a:rPr lang="en-US" sz="2800" b="1" dirty="0">
                <a:solidFill>
                  <a:schemeClr val="bg1"/>
                </a:solidFill>
              </a:rPr>
              <a:t>2</a:t>
            </a:r>
            <a:endParaRPr lang="en-US" sz="2800" dirty="0"/>
          </a:p>
        </p:txBody>
      </p:sp>
      <p:sp>
        <p:nvSpPr>
          <p:cNvPr id="12" name="Text 10"/>
          <p:cNvSpPr txBox="1"/>
          <p:nvPr/>
        </p:nvSpPr>
        <p:spPr>
          <a:xfrm>
            <a:off x="5454396" y="2011680"/>
            <a:ext cx="2286000" cy="320040"/>
          </a:xfrm>
          <a:prstGeom prst="rect">
            <a:avLst/>
          </a:prstGeom>
          <a:noFill/>
          <a:ln/>
        </p:spPr>
        <p:txBody>
          <a:bodyPr wrap="square" lIns="0" tIns="0" rIns="0" bIns="0" rtlCol="0" anchor="ctr"/>
          <a:lstStyle/>
          <a:p>
            <a:pPr indent="0" marL="0">
              <a:buNone/>
            </a:pPr>
            <a:r>
              <a:rPr lang="en-US" sz="1200" b="1" dirty="0">
                <a:solidFill>
                  <a:schemeClr val="accent2"/>
                </a:solidFill>
              </a:rPr>
              <a:t>PREDICT</a:t>
            </a:r>
            <a:endParaRPr lang="en-US" sz="1200" dirty="0"/>
          </a:p>
        </p:txBody>
      </p:sp>
      <p:sp>
        <p:nvSpPr>
          <p:cNvPr id="13" name="Text 11"/>
          <p:cNvSpPr txBox="1"/>
          <p:nvPr/>
        </p:nvSpPr>
        <p:spPr>
          <a:xfrm>
            <a:off x="5454396" y="2331720"/>
            <a:ext cx="2286000" cy="457200"/>
          </a:xfrm>
          <a:prstGeom prst="rect">
            <a:avLst/>
          </a:prstGeom>
          <a:noFill/>
          <a:ln/>
        </p:spPr>
        <p:txBody>
          <a:bodyPr wrap="square" lIns="0" tIns="0" rIns="0" bIns="0" rtlCol="0" anchor="ctr"/>
          <a:lstStyle/>
          <a:p>
            <a:pPr indent="0" marL="0">
              <a:buNone/>
            </a:pPr>
            <a:r>
              <a:rPr lang="en-US" sz="2000" b="1" dirty="0">
                <a:solidFill>
                  <a:schemeClr val="tx1"/>
                </a:solidFill>
              </a:rPr>
              <a:t>Demand-led merchandising</a:t>
            </a:r>
            <a:endParaRPr lang="en-US" sz="2000" dirty="0"/>
          </a:p>
        </p:txBody>
      </p:sp>
      <p:sp>
        <p:nvSpPr>
          <p:cNvPr id="14" name="Text 12"/>
          <p:cNvSpPr txBox="1"/>
          <p:nvPr/>
        </p:nvSpPr>
        <p:spPr>
          <a:xfrm>
            <a:off x="4448556" y="3063240"/>
            <a:ext cx="3291840" cy="1463040"/>
          </a:xfrm>
          <a:prstGeom prst="rect">
            <a:avLst/>
          </a:prstGeom>
          <a:noFill/>
          <a:ln/>
        </p:spPr>
        <p:txBody>
          <a:bodyPr wrap="square" lIns="0" tIns="0" rIns="0" bIns="0" rtlCol="0" anchor="t"/>
          <a:lstStyle/>
          <a:p>
            <a:pPr indent="0" marL="0">
              <a:buNone/>
            </a:pPr>
            <a:r>
              <a:rPr lang="en-US" sz="1500" dirty="0">
                <a:solidFill>
                  <a:schemeClr val="accent4"/>
                </a:solidFill>
              </a:rPr>
              <a:t>SKU × store forecasts drive buys, allocation and replenishment. Markdowns planned early and kept shallow.</a:t>
            </a:r>
            <a:endParaRPr lang="en-US" sz="1500" dirty="0"/>
          </a:p>
        </p:txBody>
      </p:sp>
      <p:sp>
        <p:nvSpPr>
          <p:cNvPr id="15" name="Text 13"/>
          <p:cNvSpPr txBox="1"/>
          <p:nvPr/>
        </p:nvSpPr>
        <p:spPr>
          <a:xfrm>
            <a:off x="7740396" y="1965960"/>
            <a:ext cx="608076" cy="822960"/>
          </a:xfrm>
          <a:prstGeom prst="rect">
            <a:avLst/>
          </a:prstGeom>
          <a:noFill/>
          <a:ln/>
        </p:spPr>
        <p:txBody>
          <a:bodyPr wrap="square" lIns="0" tIns="0" rIns="0" bIns="0" rtlCol="0" anchor="ctr"/>
          <a:lstStyle/>
          <a:p>
            <a:pPr algn="ctr" indent="0" marL="0">
              <a:buNone/>
            </a:pPr>
            <a:r>
              <a:rPr lang="en-US" sz="3200" dirty="0">
                <a:solidFill>
                  <a:schemeClr val="accent5"/>
                </a:solidFill>
              </a:rPr>
              <a:t>→</a:t>
            </a:r>
            <a:endParaRPr lang="en-US" sz="3200" dirty="0"/>
          </a:p>
        </p:txBody>
      </p:sp>
      <p:sp>
        <p:nvSpPr>
          <p:cNvPr id="16" name="step3"/>
          <p:cNvSpPr/>
          <p:nvPr/>
        </p:nvSpPr>
        <p:spPr>
          <a:xfrm>
            <a:off x="8348472" y="1965960"/>
            <a:ext cx="822960" cy="822960"/>
          </a:xfrm>
          <a:prstGeom prst="ellipse">
            <a:avLst/>
          </a:prstGeom>
          <a:solidFill>
            <a:schemeClr val="accent3"/>
          </a:solidFill>
          <a:ln/>
        </p:spPr>
      </p:sp>
      <p:sp>
        <p:nvSpPr>
          <p:cNvPr id="17" name="Text 15"/>
          <p:cNvSpPr txBox="1"/>
          <p:nvPr/>
        </p:nvSpPr>
        <p:spPr>
          <a:xfrm>
            <a:off x="8348472" y="1965960"/>
            <a:ext cx="822960" cy="822960"/>
          </a:xfrm>
          <a:prstGeom prst="rect">
            <a:avLst/>
          </a:prstGeom>
          <a:noFill/>
          <a:ln/>
        </p:spPr>
        <p:txBody>
          <a:bodyPr wrap="square" lIns="0" tIns="0" rIns="0" bIns="0" rtlCol="0" anchor="ctr"/>
          <a:lstStyle/>
          <a:p>
            <a:pPr algn="ctr" indent="0" marL="0">
              <a:buNone/>
            </a:pPr>
            <a:r>
              <a:rPr lang="en-US" sz="2800" b="1" dirty="0">
                <a:solidFill>
                  <a:schemeClr val="bg1"/>
                </a:solidFill>
              </a:rPr>
              <a:t>3</a:t>
            </a:r>
            <a:endParaRPr lang="en-US" sz="2800" dirty="0"/>
          </a:p>
        </p:txBody>
      </p:sp>
      <p:sp>
        <p:nvSpPr>
          <p:cNvPr id="18" name="Text 16"/>
          <p:cNvSpPr txBox="1"/>
          <p:nvPr/>
        </p:nvSpPr>
        <p:spPr>
          <a:xfrm>
            <a:off x="9354312" y="2011680"/>
            <a:ext cx="2286000" cy="320040"/>
          </a:xfrm>
          <a:prstGeom prst="rect">
            <a:avLst/>
          </a:prstGeom>
          <a:noFill/>
          <a:ln/>
        </p:spPr>
        <p:txBody>
          <a:bodyPr wrap="square" lIns="0" tIns="0" rIns="0" bIns="0" rtlCol="0" anchor="ctr"/>
          <a:lstStyle/>
          <a:p>
            <a:pPr indent="0" marL="0">
              <a:buNone/>
            </a:pPr>
            <a:r>
              <a:rPr lang="en-US" sz="1200" b="1" dirty="0">
                <a:solidFill>
                  <a:schemeClr val="accent3"/>
                </a:solidFill>
              </a:rPr>
              <a:t>ACT</a:t>
            </a:r>
            <a:endParaRPr lang="en-US" sz="1200" dirty="0"/>
          </a:p>
        </p:txBody>
      </p:sp>
      <p:sp>
        <p:nvSpPr>
          <p:cNvPr id="19" name="Text 17"/>
          <p:cNvSpPr txBox="1"/>
          <p:nvPr/>
        </p:nvSpPr>
        <p:spPr>
          <a:xfrm>
            <a:off x="9354312" y="2331720"/>
            <a:ext cx="2286000" cy="457200"/>
          </a:xfrm>
          <a:prstGeom prst="rect">
            <a:avLst/>
          </a:prstGeom>
          <a:noFill/>
          <a:ln/>
        </p:spPr>
        <p:txBody>
          <a:bodyPr wrap="square" lIns="0" tIns="0" rIns="0" bIns="0" rtlCol="0" anchor="ctr"/>
          <a:lstStyle/>
          <a:p>
            <a:pPr indent="0" marL="0">
              <a:buNone/>
            </a:pPr>
            <a:r>
              <a:rPr lang="en-US" sz="2000" b="1" dirty="0">
                <a:solidFill>
                  <a:schemeClr val="tx1"/>
                </a:solidFill>
              </a:rPr>
              <a:t>Personal &amp; automated</a:t>
            </a:r>
            <a:endParaRPr lang="en-US" sz="2000" dirty="0"/>
          </a:p>
        </p:txBody>
      </p:sp>
      <p:sp>
        <p:nvSpPr>
          <p:cNvPr id="20" name="Text 18"/>
          <p:cNvSpPr txBox="1"/>
          <p:nvPr/>
        </p:nvSpPr>
        <p:spPr>
          <a:xfrm>
            <a:off x="8348472" y="3063240"/>
            <a:ext cx="3291840" cy="1463040"/>
          </a:xfrm>
          <a:prstGeom prst="rect">
            <a:avLst/>
          </a:prstGeom>
          <a:noFill/>
          <a:ln/>
        </p:spPr>
        <p:txBody>
          <a:bodyPr wrap="square" lIns="0" tIns="0" rIns="0" bIns="0" rtlCol="0" anchor="t"/>
          <a:lstStyle/>
          <a:p>
            <a:pPr indent="0" marL="0">
              <a:buNone/>
            </a:pPr>
            <a:r>
              <a:rPr lang="en-US" sz="1500" dirty="0">
                <a:solidFill>
                  <a:schemeClr val="accent4"/>
                </a:solidFill>
              </a:rPr>
              <a:t>Next-best offers for loyalty members, AI assistants for planners and store managers, supplier data sharing.</a:t>
            </a:r>
            <a:endParaRPr lang="en-US" sz="1500" dirty="0"/>
          </a:p>
        </p:txBody>
      </p:sp>
      <p:sp>
        <p:nvSpPr>
          <p:cNvPr id="21" name="Text 19"/>
          <p:cNvSpPr txBox="1"/>
          <p:nvPr/>
        </p:nvSpPr>
        <p:spPr>
          <a:xfrm>
            <a:off x="548640" y="4572000"/>
            <a:ext cx="11091672" cy="685800"/>
          </a:xfrm>
          <a:prstGeom prst="rect">
            <a:avLst/>
          </a:prstGeom>
          <a:noFill/>
          <a:ln/>
        </p:spPr>
        <p:txBody>
          <a:bodyPr wrap="square" lIns="0" tIns="0" rIns="0" bIns="0" rtlCol="0" anchor="t"/>
          <a:lstStyle/>
          <a:p>
            <a:pPr indent="0" marL="0">
              <a:buNone/>
            </a:pPr>
            <a:r>
              <a:rPr lang="en-US" sz="1600" dirty="0">
                <a:solidFill>
                  <a:schemeClr val="tx1"/>
                </a:solidFill>
              </a:rPr>
              <a:t>Europe's leading omnichannel retailers already run demand-led allocation. A mid-market team can now get there without building a large data organisation.</a:t>
            </a:r>
            <a:endParaRPr lang="en-US" sz="16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1091672" cy="365760"/>
          </a:xfrm>
          <a:prstGeom prst="rect">
            <a:avLst/>
          </a:prstGeom>
          <a:noFill/>
          <a:ln/>
        </p:spPr>
        <p:txBody>
          <a:bodyPr wrap="square" rtlCol="0"/>
          <a:lstStyle/>
          <a:p>
            <a:pPr indent="0" marL="0">
              <a:buNone/>
            </a:pPr>
            <a:r>
              <a:rPr lang="en-US" sz="1200" b="1" spc="200" kern="0" dirty="0">
                <a:solidFill>
                  <a:schemeClr val="accent1"/>
                </a:solidFill>
              </a:rPr>
              <a:t>06 · THE ROADMAP</a:t>
            </a:r>
            <a:endParaRPr lang="en-US" sz="1200" dirty="0"/>
          </a:p>
        </p:txBody>
      </p:sp>
      <p:sp>
        <p:nvSpPr>
          <p:cNvPr id="3" name="Text 0"/>
          <p:cNvSpPr/>
          <p:nvPr>
            <p:ph idx="101" type="title" hasCustomPrompt="1"/>
          </p:nvPr>
        </p:nvSpPr>
        <p:spPr>
          <a:xfrm>
            <a:off x="548640" y="731520"/>
            <a:ext cx="11091672" cy="914400"/>
          </a:xfrm>
          <a:prstGeom prst="rect">
            <a:avLst/>
          </a:prstGeom>
          <a:noFill/>
          <a:ln/>
        </p:spPr>
        <p:txBody>
          <a:bodyPr wrap="square" rtlCol="0" anchor="t"/>
          <a:lstStyle/>
          <a:p>
            <a:pPr algn="l" indent="0" marL="0">
              <a:buNone/>
            </a:pPr>
            <a:r>
              <a:rPr lang="en-US" sz="3400" b="1" dirty="0">
                <a:solidFill>
                  <a:schemeClr val="tx1"/>
                </a:solidFill>
              </a:rPr>
              <a:t>Value in weeks. Each phase pays for the next</a:t>
            </a:r>
            <a:endParaRPr lang="en-US" sz="3400" dirty="0"/>
          </a:p>
        </p:txBody>
      </p:sp>
      <p:sp>
        <p:nvSpPr>
          <p:cNvPr id="4" name="card1"/>
          <p:cNvSpPr/>
          <p:nvPr/>
        </p:nvSpPr>
        <p:spPr>
          <a:xfrm>
            <a:off x="548640" y="1920240"/>
            <a:ext cx="3483864" cy="3566160"/>
          </a:xfrm>
          <a:prstGeom prst="roundRect">
            <a:avLst>
              <a:gd name="adj" fmla="val 3150"/>
            </a:avLst>
          </a:prstGeom>
          <a:solidFill>
            <a:schemeClr val="bg2"/>
          </a:solidFill>
          <a:ln w="9525">
            <a:solidFill>
              <a:schemeClr val="accent5"/>
            </a:solidFill>
            <a:prstDash val="solid"/>
          </a:ln>
        </p:spPr>
      </p:sp>
      <p:sp>
        <p:nvSpPr>
          <p:cNvPr id="5" name="Text 3"/>
          <p:cNvSpPr txBox="1"/>
          <p:nvPr/>
        </p:nvSpPr>
        <p:spPr>
          <a:xfrm>
            <a:off x="777240" y="2148840"/>
            <a:ext cx="3026664" cy="292608"/>
          </a:xfrm>
          <a:prstGeom prst="rect">
            <a:avLst/>
          </a:prstGeom>
          <a:noFill/>
          <a:ln/>
        </p:spPr>
        <p:txBody>
          <a:bodyPr wrap="square" lIns="0" tIns="0" rIns="0" bIns="0" rtlCol="0" anchor="ctr"/>
          <a:lstStyle/>
          <a:p>
            <a:pPr indent="0" marL="0">
              <a:buNone/>
            </a:pPr>
            <a:r>
              <a:rPr lang="en-US" sz="1100" b="1" dirty="0">
                <a:solidFill>
                  <a:schemeClr val="accent1"/>
                </a:solidFill>
              </a:rPr>
              <a:t>WEEKS 0–6 · PROVE</a:t>
            </a:r>
            <a:endParaRPr lang="en-US" sz="1100" dirty="0"/>
          </a:p>
        </p:txBody>
      </p:sp>
      <p:sp>
        <p:nvSpPr>
          <p:cNvPr id="6" name="Text 4"/>
          <p:cNvSpPr txBox="1"/>
          <p:nvPr/>
        </p:nvSpPr>
        <p:spPr>
          <a:xfrm>
            <a:off x="777240" y="2514600"/>
            <a:ext cx="3026664" cy="685800"/>
          </a:xfrm>
          <a:prstGeom prst="rect">
            <a:avLst/>
          </a:prstGeom>
          <a:noFill/>
          <a:ln/>
        </p:spPr>
        <p:txBody>
          <a:bodyPr wrap="square" lIns="0" tIns="0" rIns="0" bIns="0" rtlCol="0" anchor="t"/>
          <a:lstStyle/>
          <a:p>
            <a:pPr indent="0" marL="0">
              <a:buNone/>
            </a:pPr>
            <a:r>
              <a:rPr lang="en-US" sz="1800" b="1" dirty="0">
                <a:solidFill>
                  <a:schemeClr val="tx1"/>
                </a:solidFill>
              </a:rPr>
              <a:t>Stock-outs + markdown baseline</a:t>
            </a:r>
            <a:endParaRPr lang="en-US" sz="1800" dirty="0"/>
          </a:p>
        </p:txBody>
      </p:sp>
      <p:sp>
        <p:nvSpPr>
          <p:cNvPr id="7" name="Text 5"/>
          <p:cNvSpPr txBox="1"/>
          <p:nvPr/>
        </p:nvSpPr>
        <p:spPr>
          <a:xfrm>
            <a:off x="777240" y="3246120"/>
            <a:ext cx="3026664" cy="20574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accent4"/>
                </a:solidFill>
              </a:rPr>
              <a:t>Connect POS, web, inventory and loyalty for one market</a:t>
            </a:r>
            <a:endParaRPr lang="en-US" sz="1400" dirty="0"/>
          </a:p>
          <a:p>
            <a:pPr marL="342900" indent="-342900">
              <a:spcAft>
                <a:spcPts val="400"/>
              </a:spcAft>
              <a:buSzPct val="100000"/>
              <a:buChar char="•"/>
            </a:pPr>
            <a:r>
              <a:rPr lang="en-US" sz="1400" dirty="0">
                <a:solidFill>
                  <a:schemeClr val="accent4"/>
                </a:solidFill>
              </a:rPr>
              <a:t>Dashboard + Genie for merch &amp; finance</a:t>
            </a:r>
            <a:endParaRPr lang="en-US" sz="1400" dirty="0"/>
          </a:p>
          <a:p>
            <a:pPr marL="342900" indent="-342900">
              <a:spcAft>
                <a:spcPts val="400"/>
              </a:spcAft>
              <a:buSzPct val="100000"/>
              <a:buChar char="•"/>
            </a:pPr>
            <a:r>
              <a:rPr lang="en-US" sz="1400" dirty="0">
                <a:solidFill>
                  <a:schemeClr val="accent4"/>
                </a:solidFill>
              </a:rPr>
              <a:t>Validate the € case on real data</a:t>
            </a:r>
            <a:endParaRPr lang="en-US" sz="1400" dirty="0"/>
          </a:p>
          <a:p>
            <a:pPr marL="342900" indent="-342900">
              <a:spcAft>
                <a:spcPts val="400"/>
              </a:spcAft>
              <a:buSzPct val="100000"/>
              <a:buChar char="•"/>
            </a:pPr>
            <a:r>
              <a:rPr lang="en-US" sz="1400" dirty="0">
                <a:solidFill>
                  <a:schemeClr val="accent4"/>
                </a:solidFill>
              </a:rPr>
              <a:t>Exit: CFO signs off baseline and target</a:t>
            </a:r>
            <a:endParaRPr lang="en-US" sz="1400" dirty="0"/>
          </a:p>
        </p:txBody>
      </p:sp>
      <p:sp>
        <p:nvSpPr>
          <p:cNvPr id="8" name="card2"/>
          <p:cNvSpPr/>
          <p:nvPr/>
        </p:nvSpPr>
        <p:spPr>
          <a:xfrm>
            <a:off x="4352544" y="1920240"/>
            <a:ext cx="3483864" cy="3566160"/>
          </a:xfrm>
          <a:prstGeom prst="roundRect">
            <a:avLst>
              <a:gd name="adj" fmla="val 3150"/>
            </a:avLst>
          </a:prstGeom>
          <a:solidFill>
            <a:schemeClr val="bg2"/>
          </a:solidFill>
          <a:ln w="9525">
            <a:solidFill>
              <a:schemeClr val="accent5"/>
            </a:solidFill>
            <a:prstDash val="solid"/>
          </a:ln>
        </p:spPr>
      </p:sp>
      <p:sp>
        <p:nvSpPr>
          <p:cNvPr id="9" name="Text 7"/>
          <p:cNvSpPr txBox="1"/>
          <p:nvPr/>
        </p:nvSpPr>
        <p:spPr>
          <a:xfrm>
            <a:off x="4581144" y="2148840"/>
            <a:ext cx="3026664" cy="292608"/>
          </a:xfrm>
          <a:prstGeom prst="rect">
            <a:avLst/>
          </a:prstGeom>
          <a:noFill/>
          <a:ln/>
        </p:spPr>
        <p:txBody>
          <a:bodyPr wrap="square" lIns="0" tIns="0" rIns="0" bIns="0" rtlCol="0" anchor="ctr"/>
          <a:lstStyle/>
          <a:p>
            <a:pPr indent="0" marL="0">
              <a:buNone/>
            </a:pPr>
            <a:r>
              <a:rPr lang="en-US" sz="1100" b="1" dirty="0">
                <a:solidFill>
                  <a:schemeClr val="accent2"/>
                </a:solidFill>
              </a:rPr>
              <a:t>MONTHS 2–6 · SCALE</a:t>
            </a:r>
            <a:endParaRPr lang="en-US" sz="1100" dirty="0"/>
          </a:p>
        </p:txBody>
      </p:sp>
      <p:sp>
        <p:nvSpPr>
          <p:cNvPr id="10" name="Text 8"/>
          <p:cNvSpPr txBox="1"/>
          <p:nvPr/>
        </p:nvSpPr>
        <p:spPr>
          <a:xfrm>
            <a:off x="4581144" y="2514600"/>
            <a:ext cx="3026664" cy="685800"/>
          </a:xfrm>
          <a:prstGeom prst="rect">
            <a:avLst/>
          </a:prstGeom>
          <a:noFill/>
          <a:ln/>
        </p:spPr>
        <p:txBody>
          <a:bodyPr wrap="square" lIns="0" tIns="0" rIns="0" bIns="0" rtlCol="0" anchor="t"/>
          <a:lstStyle/>
          <a:p>
            <a:pPr indent="0" marL="0">
              <a:buNone/>
            </a:pPr>
            <a:r>
              <a:rPr lang="en-US" sz="1800" b="1" dirty="0">
                <a:solidFill>
                  <a:schemeClr val="tx1"/>
                </a:solidFill>
              </a:rPr>
              <a:t>All markets, forecasting live</a:t>
            </a:r>
            <a:endParaRPr lang="en-US" sz="1800" dirty="0"/>
          </a:p>
        </p:txBody>
      </p:sp>
      <p:sp>
        <p:nvSpPr>
          <p:cNvPr id="11" name="Text 9"/>
          <p:cNvSpPr txBox="1"/>
          <p:nvPr/>
        </p:nvSpPr>
        <p:spPr>
          <a:xfrm>
            <a:off x="4581144" y="3246120"/>
            <a:ext cx="3026664" cy="20574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accent4"/>
                </a:solidFill>
              </a:rPr>
              <a:t>SKU × store forecast in the weekly buy/replenishment cycle</a:t>
            </a:r>
            <a:endParaRPr lang="en-US" sz="1400" dirty="0"/>
          </a:p>
          <a:p>
            <a:pPr marL="342900" indent="-342900">
              <a:spcAft>
                <a:spcPts val="400"/>
              </a:spcAft>
              <a:buSzPct val="100000"/>
              <a:buChar char="•"/>
            </a:pPr>
            <a:r>
              <a:rPr lang="en-US" sz="1400" dirty="0">
                <a:solidFill>
                  <a:schemeClr val="accent4"/>
                </a:solidFill>
              </a:rPr>
              <a:t>Markdown recommendations for AW26 end of season</a:t>
            </a:r>
            <a:endParaRPr lang="en-US" sz="1400" dirty="0"/>
          </a:p>
          <a:p>
            <a:pPr marL="342900" indent="-342900">
              <a:spcAft>
                <a:spcPts val="400"/>
              </a:spcAft>
              <a:buSzPct val="100000"/>
              <a:buChar char="•"/>
            </a:pPr>
            <a:r>
              <a:rPr lang="en-US" sz="1400" dirty="0">
                <a:solidFill>
                  <a:schemeClr val="accent4"/>
                </a:solidFill>
              </a:rPr>
              <a:t>Customer 360 used by CRM</a:t>
            </a:r>
            <a:endParaRPr lang="en-US" sz="1400" dirty="0"/>
          </a:p>
          <a:p>
            <a:pPr marL="342900" indent="-342900">
              <a:spcAft>
                <a:spcPts val="400"/>
              </a:spcAft>
              <a:buSzPct val="100000"/>
              <a:buChar char="•"/>
            </a:pPr>
            <a:r>
              <a:rPr lang="en-US" sz="1400" dirty="0">
                <a:solidFill>
                  <a:schemeClr val="accent4"/>
                </a:solidFill>
              </a:rPr>
              <a:t>Exit: measured drop in stock-outs and markdowns</a:t>
            </a:r>
            <a:endParaRPr lang="en-US" sz="1400" dirty="0"/>
          </a:p>
        </p:txBody>
      </p:sp>
      <p:sp>
        <p:nvSpPr>
          <p:cNvPr id="12" name="card3"/>
          <p:cNvSpPr/>
          <p:nvPr/>
        </p:nvSpPr>
        <p:spPr>
          <a:xfrm>
            <a:off x="8156448" y="1920240"/>
            <a:ext cx="3483864" cy="3566160"/>
          </a:xfrm>
          <a:prstGeom prst="roundRect">
            <a:avLst>
              <a:gd name="adj" fmla="val 3150"/>
            </a:avLst>
          </a:prstGeom>
          <a:solidFill>
            <a:schemeClr val="bg2"/>
          </a:solidFill>
          <a:ln w="9525">
            <a:solidFill>
              <a:schemeClr val="accent5"/>
            </a:solidFill>
            <a:prstDash val="solid"/>
          </a:ln>
        </p:spPr>
      </p:sp>
      <p:sp>
        <p:nvSpPr>
          <p:cNvPr id="13" name="Text 11"/>
          <p:cNvSpPr txBox="1"/>
          <p:nvPr/>
        </p:nvSpPr>
        <p:spPr>
          <a:xfrm>
            <a:off x="8385048" y="2148840"/>
            <a:ext cx="3026664" cy="292608"/>
          </a:xfrm>
          <a:prstGeom prst="rect">
            <a:avLst/>
          </a:prstGeom>
          <a:noFill/>
          <a:ln/>
        </p:spPr>
        <p:txBody>
          <a:bodyPr wrap="square" lIns="0" tIns="0" rIns="0" bIns="0" rtlCol="0" anchor="ctr"/>
          <a:lstStyle/>
          <a:p>
            <a:pPr indent="0" marL="0">
              <a:buNone/>
            </a:pPr>
            <a:r>
              <a:rPr lang="en-US" sz="1100" b="1" dirty="0">
                <a:solidFill>
                  <a:schemeClr val="accent3"/>
                </a:solidFill>
              </a:rPr>
              <a:t>MONTHS 6–18 · DIFFERENTIATE</a:t>
            </a:r>
            <a:endParaRPr lang="en-US" sz="1100" dirty="0"/>
          </a:p>
        </p:txBody>
      </p:sp>
      <p:sp>
        <p:nvSpPr>
          <p:cNvPr id="14" name="Text 12"/>
          <p:cNvSpPr txBox="1"/>
          <p:nvPr/>
        </p:nvSpPr>
        <p:spPr>
          <a:xfrm>
            <a:off x="8385048" y="2514600"/>
            <a:ext cx="3026664" cy="685800"/>
          </a:xfrm>
          <a:prstGeom prst="rect">
            <a:avLst/>
          </a:prstGeom>
          <a:noFill/>
          <a:ln/>
        </p:spPr>
        <p:txBody>
          <a:bodyPr wrap="square" lIns="0" tIns="0" rIns="0" bIns="0" rtlCol="0" anchor="t"/>
          <a:lstStyle/>
          <a:p>
            <a:pPr indent="0" marL="0">
              <a:buNone/>
            </a:pPr>
            <a:r>
              <a:rPr lang="en-US" sz="1800" b="1" dirty="0">
                <a:solidFill>
                  <a:schemeClr val="tx1"/>
                </a:solidFill>
              </a:rPr>
              <a:t>Personalisation &amp; AI assistants</a:t>
            </a:r>
            <a:endParaRPr lang="en-US" sz="1800" dirty="0"/>
          </a:p>
        </p:txBody>
      </p:sp>
      <p:sp>
        <p:nvSpPr>
          <p:cNvPr id="15" name="Text 13"/>
          <p:cNvSpPr txBox="1"/>
          <p:nvPr/>
        </p:nvSpPr>
        <p:spPr>
          <a:xfrm>
            <a:off x="8385048" y="3246120"/>
            <a:ext cx="3026664" cy="20574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accent4"/>
                </a:solidFill>
              </a:rPr>
              <a:t>Loyalty personalisation and retention</a:t>
            </a:r>
            <a:endParaRPr lang="en-US" sz="1400" dirty="0"/>
          </a:p>
          <a:p>
            <a:pPr marL="342900" indent="-342900">
              <a:spcAft>
                <a:spcPts val="400"/>
              </a:spcAft>
              <a:buSzPct val="100000"/>
              <a:buChar char="•"/>
            </a:pPr>
            <a:r>
              <a:rPr lang="en-US" sz="1400" dirty="0">
                <a:solidFill>
                  <a:schemeClr val="accent4"/>
                </a:solidFill>
              </a:rPr>
              <a:t>Planner &amp; store-manager assistants</a:t>
            </a:r>
            <a:endParaRPr lang="en-US" sz="1400" dirty="0"/>
          </a:p>
          <a:p>
            <a:pPr marL="342900" indent="-342900">
              <a:spcAft>
                <a:spcPts val="400"/>
              </a:spcAft>
              <a:buSzPct val="100000"/>
              <a:buChar char="•"/>
            </a:pPr>
            <a:r>
              <a:rPr lang="en-US" sz="1400" dirty="0">
                <a:solidFill>
                  <a:schemeClr val="accent4"/>
                </a:solidFill>
              </a:rPr>
              <a:t>Supplier collaboration, pricing</a:t>
            </a:r>
            <a:endParaRPr lang="en-US" sz="1400" dirty="0"/>
          </a:p>
          <a:p>
            <a:pPr marL="342900" indent="-342900">
              <a:spcAft>
                <a:spcPts val="400"/>
              </a:spcAft>
              <a:buSzPct val="100000"/>
              <a:buChar char="•"/>
            </a:pPr>
            <a:r>
              <a:rPr lang="en-US" sz="1400" dirty="0">
                <a:solidFill>
                  <a:schemeClr val="accent4"/>
                </a:solidFill>
              </a:rPr>
              <a:t>Exit: growth levers, not only savings</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1091672" cy="365760"/>
          </a:xfrm>
          <a:prstGeom prst="rect">
            <a:avLst/>
          </a:prstGeom>
          <a:noFill/>
          <a:ln/>
        </p:spPr>
        <p:txBody>
          <a:bodyPr wrap="square" rtlCol="0"/>
          <a:lstStyle/>
          <a:p>
            <a:pPr indent="0" marL="0">
              <a:buNone/>
            </a:pPr>
            <a:r>
              <a:rPr lang="en-US" sz="1200" b="1" spc="200" kern="0" dirty="0">
                <a:solidFill>
                  <a:schemeClr val="accent1"/>
                </a:solidFill>
              </a:rPr>
              <a:t>07 · DECISION TODAY</a:t>
            </a:r>
            <a:endParaRPr lang="en-US" sz="1200" dirty="0"/>
          </a:p>
        </p:txBody>
      </p:sp>
      <p:sp>
        <p:nvSpPr>
          <p:cNvPr id="3" name="Text 0"/>
          <p:cNvSpPr/>
          <p:nvPr>
            <p:ph idx="101" type="title" hasCustomPrompt="1"/>
          </p:nvPr>
        </p:nvSpPr>
        <p:spPr>
          <a:xfrm>
            <a:off x="548640" y="731520"/>
            <a:ext cx="11091672" cy="914400"/>
          </a:xfrm>
          <a:prstGeom prst="rect">
            <a:avLst/>
          </a:prstGeom>
          <a:noFill/>
          <a:ln/>
        </p:spPr>
        <p:txBody>
          <a:bodyPr wrap="square" rtlCol="0" anchor="t"/>
          <a:lstStyle/>
          <a:p>
            <a:pPr algn="l" indent="0" marL="0">
              <a:buNone/>
            </a:pPr>
            <a:r>
              <a:rPr lang="en-US" sz="3400" b="1" dirty="0">
                <a:solidFill>
                  <a:schemeClr val="tx1"/>
                </a:solidFill>
              </a:rPr>
              <a:t>Start a 6-week value sprint on your data</a:t>
            </a:r>
            <a:endParaRPr lang="en-US" sz="3400" dirty="0"/>
          </a:p>
        </p:txBody>
      </p:sp>
      <p:sp>
        <p:nvSpPr>
          <p:cNvPr id="4" name="card1"/>
          <p:cNvSpPr/>
          <p:nvPr/>
        </p:nvSpPr>
        <p:spPr>
          <a:xfrm>
            <a:off x="548640" y="1920240"/>
            <a:ext cx="3483864" cy="2743200"/>
          </a:xfrm>
          <a:prstGeom prst="roundRect">
            <a:avLst>
              <a:gd name="adj" fmla="val 4000"/>
            </a:avLst>
          </a:prstGeom>
          <a:solidFill>
            <a:schemeClr val="bg2"/>
          </a:solidFill>
          <a:ln w="9525">
            <a:solidFill>
              <a:schemeClr val="accent5"/>
            </a:solidFill>
            <a:prstDash val="solid"/>
          </a:ln>
        </p:spPr>
      </p:sp>
      <p:sp>
        <p:nvSpPr>
          <p:cNvPr id="5" name="Text 3"/>
          <p:cNvSpPr txBox="1"/>
          <p:nvPr/>
        </p:nvSpPr>
        <p:spPr>
          <a:xfrm>
            <a:off x="777240" y="2148840"/>
            <a:ext cx="3026664" cy="685800"/>
          </a:xfrm>
          <a:prstGeom prst="rect">
            <a:avLst/>
          </a:prstGeom>
          <a:noFill/>
          <a:ln/>
        </p:spPr>
        <p:txBody>
          <a:bodyPr wrap="square" lIns="0" tIns="0" rIns="0" bIns="0" rtlCol="0" anchor="t"/>
          <a:lstStyle/>
          <a:p>
            <a:pPr indent="0" marL="0">
              <a:buNone/>
            </a:pPr>
            <a:r>
              <a:rPr lang="en-US" sz="1800" b="1" dirty="0">
                <a:solidFill>
                  <a:schemeClr val="tx1"/>
                </a:solidFill>
              </a:rPr>
              <a:t>What we ask</a:t>
            </a:r>
            <a:endParaRPr lang="en-US" sz="1800" dirty="0"/>
          </a:p>
        </p:txBody>
      </p:sp>
      <p:sp>
        <p:nvSpPr>
          <p:cNvPr id="6" name="Text 4"/>
          <p:cNvSpPr txBox="1"/>
          <p:nvPr/>
        </p:nvSpPr>
        <p:spPr>
          <a:xfrm>
            <a:off x="777240" y="2880360"/>
            <a:ext cx="3026664" cy="16002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accent4"/>
                </a:solidFill>
              </a:rPr>
              <a:t>An executive sponsor (CFO) and a business owner (Merch)</a:t>
            </a:r>
            <a:endParaRPr lang="en-US" sz="1400" dirty="0"/>
          </a:p>
          <a:p>
            <a:pPr marL="342900" indent="-342900">
              <a:spcAft>
                <a:spcPts val="400"/>
              </a:spcAft>
              <a:buSzPct val="100000"/>
              <a:buChar char="•"/>
            </a:pPr>
            <a:r>
              <a:rPr lang="en-US" sz="1400" dirty="0">
                <a:solidFill>
                  <a:schemeClr val="accent4"/>
                </a:solidFill>
              </a:rPr>
              <a:t>2 people from your data team, part-time</a:t>
            </a:r>
            <a:endParaRPr lang="en-US" sz="1400" dirty="0"/>
          </a:p>
          <a:p>
            <a:pPr marL="342900" indent="-342900">
              <a:spcAft>
                <a:spcPts val="400"/>
              </a:spcAft>
              <a:buSzPct val="100000"/>
              <a:buChar char="•"/>
            </a:pPr>
            <a:r>
              <a:rPr lang="en-US" sz="1400" dirty="0">
                <a:solidFill>
                  <a:schemeClr val="accent4"/>
                </a:solidFill>
              </a:rPr>
              <a:t>Read access to POS, web, inventory and loyalty extracts</a:t>
            </a:r>
            <a:endParaRPr lang="en-US" sz="1400" dirty="0"/>
          </a:p>
        </p:txBody>
      </p:sp>
      <p:sp>
        <p:nvSpPr>
          <p:cNvPr id="7" name="card2"/>
          <p:cNvSpPr/>
          <p:nvPr/>
        </p:nvSpPr>
        <p:spPr>
          <a:xfrm>
            <a:off x="4352544" y="1920240"/>
            <a:ext cx="3483864" cy="2743200"/>
          </a:xfrm>
          <a:prstGeom prst="roundRect">
            <a:avLst>
              <a:gd name="adj" fmla="val 4000"/>
            </a:avLst>
          </a:prstGeom>
          <a:solidFill>
            <a:schemeClr val="bg2"/>
          </a:solidFill>
          <a:ln w="9525">
            <a:solidFill>
              <a:schemeClr val="accent5"/>
            </a:solidFill>
            <a:prstDash val="solid"/>
          </a:ln>
        </p:spPr>
      </p:sp>
      <p:sp>
        <p:nvSpPr>
          <p:cNvPr id="8" name="Text 6"/>
          <p:cNvSpPr txBox="1"/>
          <p:nvPr/>
        </p:nvSpPr>
        <p:spPr>
          <a:xfrm>
            <a:off x="4581144" y="2148840"/>
            <a:ext cx="3026664" cy="685800"/>
          </a:xfrm>
          <a:prstGeom prst="rect">
            <a:avLst/>
          </a:prstGeom>
          <a:noFill/>
          <a:ln/>
        </p:spPr>
        <p:txBody>
          <a:bodyPr wrap="square" lIns="0" tIns="0" rIns="0" bIns="0" rtlCol="0" anchor="t"/>
          <a:lstStyle/>
          <a:p>
            <a:pPr indent="0" marL="0">
              <a:buNone/>
            </a:pPr>
            <a:r>
              <a:rPr lang="en-US" sz="1800" b="1" dirty="0">
                <a:solidFill>
                  <a:schemeClr val="tx1"/>
                </a:solidFill>
              </a:rPr>
              <a:t>What Databricks brings</a:t>
            </a:r>
            <a:endParaRPr lang="en-US" sz="1800" dirty="0"/>
          </a:p>
        </p:txBody>
      </p:sp>
      <p:sp>
        <p:nvSpPr>
          <p:cNvPr id="9" name="Text 7"/>
          <p:cNvSpPr txBox="1"/>
          <p:nvPr/>
        </p:nvSpPr>
        <p:spPr>
          <a:xfrm>
            <a:off x="4581144" y="2880360"/>
            <a:ext cx="3026664" cy="16002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accent4"/>
                </a:solidFill>
              </a:rPr>
              <a:t>Dedicated SA + field engineering pod</a:t>
            </a:r>
            <a:endParaRPr lang="en-US" sz="1400" dirty="0"/>
          </a:p>
          <a:p>
            <a:pPr marL="342900" indent="-342900">
              <a:spcAft>
                <a:spcPts val="400"/>
              </a:spcAft>
              <a:buSzPct val="100000"/>
              <a:buChar char="•"/>
            </a:pPr>
            <a:r>
              <a:rPr lang="en-US" sz="1400" dirty="0">
                <a:solidFill>
                  <a:schemeClr val="accent4"/>
                </a:solidFill>
              </a:rPr>
              <a:t>Pay-as-you-go serverless: nothing to staff</a:t>
            </a:r>
            <a:endParaRPr lang="en-US" sz="1400" dirty="0"/>
          </a:p>
          <a:p>
            <a:pPr marL="342900" indent="-342900">
              <a:spcAft>
                <a:spcPts val="400"/>
              </a:spcAft>
              <a:buSzPct val="100000"/>
              <a:buChar char="•"/>
            </a:pPr>
            <a:r>
              <a:rPr lang="en-US" sz="1400" dirty="0">
                <a:solidFill>
                  <a:schemeClr val="accent4"/>
                </a:solidFill>
              </a:rPr>
              <a:t>Retail accelerators: forecasting, markdown, customer 360</a:t>
            </a:r>
            <a:endParaRPr lang="en-US" sz="1400" dirty="0"/>
          </a:p>
        </p:txBody>
      </p:sp>
      <p:sp>
        <p:nvSpPr>
          <p:cNvPr id="10" name="card3"/>
          <p:cNvSpPr/>
          <p:nvPr/>
        </p:nvSpPr>
        <p:spPr>
          <a:xfrm>
            <a:off x="8156448" y="1920240"/>
            <a:ext cx="3483864" cy="2743200"/>
          </a:xfrm>
          <a:prstGeom prst="roundRect">
            <a:avLst>
              <a:gd name="adj" fmla="val 4000"/>
            </a:avLst>
          </a:prstGeom>
          <a:solidFill>
            <a:schemeClr val="bg2"/>
          </a:solidFill>
          <a:ln w="9525">
            <a:solidFill>
              <a:schemeClr val="accent5"/>
            </a:solidFill>
            <a:prstDash val="solid"/>
          </a:ln>
        </p:spPr>
      </p:sp>
      <p:sp>
        <p:nvSpPr>
          <p:cNvPr id="11" name="Text 9"/>
          <p:cNvSpPr txBox="1"/>
          <p:nvPr/>
        </p:nvSpPr>
        <p:spPr>
          <a:xfrm>
            <a:off x="8385048" y="2148840"/>
            <a:ext cx="3026664" cy="685800"/>
          </a:xfrm>
          <a:prstGeom prst="rect">
            <a:avLst/>
          </a:prstGeom>
          <a:noFill/>
          <a:ln/>
        </p:spPr>
        <p:txBody>
          <a:bodyPr wrap="square" lIns="0" tIns="0" rIns="0" bIns="0" rtlCol="0" anchor="t"/>
          <a:lstStyle/>
          <a:p>
            <a:pPr indent="0" marL="0">
              <a:buNone/>
            </a:pPr>
            <a:r>
              <a:rPr lang="en-US" sz="1800" b="1" dirty="0">
                <a:solidFill>
                  <a:schemeClr val="tx1"/>
                </a:solidFill>
              </a:rPr>
              <a:t>Next 10 days</a:t>
            </a:r>
            <a:endParaRPr lang="en-US" sz="1800" dirty="0"/>
          </a:p>
        </p:txBody>
      </p:sp>
      <p:sp>
        <p:nvSpPr>
          <p:cNvPr id="12" name="Text 10"/>
          <p:cNvSpPr txBox="1"/>
          <p:nvPr/>
        </p:nvSpPr>
        <p:spPr>
          <a:xfrm>
            <a:off x="8385048" y="2880360"/>
            <a:ext cx="3026664" cy="16002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accent4"/>
                </a:solidFill>
              </a:rPr>
              <a:t>Day 2: success metrics signed</a:t>
            </a:r>
            <a:endParaRPr lang="en-US" sz="1400" dirty="0"/>
          </a:p>
          <a:p>
            <a:pPr marL="342900" indent="-342900">
              <a:spcAft>
                <a:spcPts val="400"/>
              </a:spcAft>
              <a:buSzPct val="100000"/>
              <a:buChar char="•"/>
            </a:pPr>
            <a:r>
              <a:rPr lang="en-US" sz="1400" dirty="0">
                <a:solidFill>
                  <a:schemeClr val="accent4"/>
                </a:solidFill>
              </a:rPr>
              <a:t>Day 5: data access &amp; security review</a:t>
            </a:r>
            <a:endParaRPr lang="en-US" sz="1400" dirty="0"/>
          </a:p>
          <a:p>
            <a:pPr marL="342900" indent="-342900">
              <a:spcAft>
                <a:spcPts val="400"/>
              </a:spcAft>
              <a:buSzPct val="100000"/>
              <a:buChar char="•"/>
            </a:pPr>
            <a:r>
              <a:rPr lang="en-US" sz="1400" dirty="0">
                <a:solidFill>
                  <a:schemeClr val="accent4"/>
                </a:solidFill>
              </a:rPr>
              <a:t>Day 10: kick-off; first market live in week 3</a:t>
            </a:r>
            <a:endParaRPr lang="en-US" sz="1400" dirty="0"/>
          </a:p>
        </p:txBody>
      </p:sp>
      <p:sp>
        <p:nvSpPr>
          <p:cNvPr id="13" name="Text 11"/>
          <p:cNvSpPr txBox="1"/>
          <p:nvPr/>
        </p:nvSpPr>
        <p:spPr>
          <a:xfrm>
            <a:off x="548640" y="5029200"/>
            <a:ext cx="11091672" cy="685800"/>
          </a:xfrm>
          <a:prstGeom prst="rect">
            <a:avLst/>
          </a:prstGeom>
          <a:noFill/>
          <a:ln/>
        </p:spPr>
        <p:txBody>
          <a:bodyPr wrap="square" lIns="0" tIns="0" rIns="0" bIns="0" rtlCol="0" anchor="t"/>
          <a:lstStyle/>
          <a:p>
            <a:pPr indent="0" marL="0">
              <a:buNone/>
            </a:pPr>
            <a:r>
              <a:rPr lang="en-US" sz="1600" b="1" dirty="0">
                <a:solidFill>
                  <a:schemeClr val="tx1"/>
                </a:solidFill>
              </a:rPr>
              <a:t>If week 6 doesn't show a credible path to the margin target, you stop, </a:t>
            </a:r>
            <a:pPr indent="0" marL="0">
              <a:buNone/>
            </a:pPr>
            <a:r>
              <a:rPr lang="en-US" sz="1600" dirty="0">
                <a:solidFill>
                  <a:schemeClr val="tx1"/>
                </a:solidFill>
              </a:rPr>
              <a:t>with no long-term commitment.</a:t>
            </a:r>
            <a:endParaRPr lang="en-US" sz="16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Multivar">
  <a:themeElements>
    <a:clrScheme name="Multivar">
      <a:dk1>
        <a:srgbClr val="1B1F24"/>
      </a:dk1>
      <a:lt1>
        <a:srgbClr val="FFFFFF"/>
      </a:lt1>
      <a:dk2>
        <a:srgbClr val="1B3139"/>
      </a:dk2>
      <a:lt2>
        <a:srgbClr val="F3F1EC"/>
      </a:lt2>
      <a:accent1>
        <a:srgbClr val="FF3621"/>
      </a:accent1>
      <a:accent2>
        <a:srgbClr val="F59E0B"/>
      </a:accent2>
      <a:accent3>
        <a:srgbClr val="0B6E4F"/>
      </a:accent3>
      <a:accent4>
        <a:srgbClr val="5D6570"/>
      </a:accent4>
      <a:accent5>
        <a:srgbClr val="E3DED4"/>
      </a:accent5>
      <a:accent6>
        <a:srgbClr val="2F3C7E"/>
      </a:accent6>
      <a:hlink>
        <a:srgbClr val="FF3621"/>
      </a:hlink>
      <a:folHlink>
        <a:srgbClr val="5D6570"/>
      </a:folHlink>
    </a:clrScheme>
    <a:fontScheme name="Multiva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Multivar Margin Plan</dc:title>
  <dc:subject>PptxGenJS Presentation</dc:subject>
  <dc:creator>PptxGenJS</dc:creator>
  <cp:lastModifiedBy>PptxGenJS</cp:lastModifiedBy>
  <cp:revision>1</cp:revision>
  <dcterms:created xsi:type="dcterms:W3CDTF">2026-10-08T08:41:15Z</dcterms:created>
  <dcterms:modified xsi:type="dcterms:W3CDTF">2026-10-08T08:41:15Z</dcterms:modified>
</cp:coreProperties>
</file>